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theme/theme3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</p:sldMasterIdLst>
  <p:notesMasterIdLst>
    <p:notesMasterId r:id="rId51"/>
  </p:notesMasterIdLst>
  <p:sldIdLst>
    <p:sldId id="256" r:id="rId36"/>
    <p:sldId id="257" r:id="rId37"/>
    <p:sldId id="260" r:id="rId38"/>
    <p:sldId id="262" r:id="rId39"/>
    <p:sldId id="263" r:id="rId40"/>
    <p:sldId id="264" r:id="rId41"/>
    <p:sldId id="261" r:id="rId42"/>
    <p:sldId id="267" r:id="rId43"/>
    <p:sldId id="258" r:id="rId44"/>
    <p:sldId id="265" r:id="rId45"/>
    <p:sldId id="268" r:id="rId46"/>
    <p:sldId id="266" r:id="rId47"/>
    <p:sldId id="269" r:id="rId48"/>
    <p:sldId id="270" r:id="rId49"/>
    <p:sldId id="259" r:id="rId5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6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4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7.xml"/><Relationship Id="rId47" Type="http://schemas.openxmlformats.org/officeDocument/2006/relationships/slide" Target="slides/slide12.xml"/><Relationship Id="rId50" Type="http://schemas.openxmlformats.org/officeDocument/2006/relationships/slide" Target="slides/slide15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2.xml"/><Relationship Id="rId40" Type="http://schemas.openxmlformats.org/officeDocument/2006/relationships/slide" Target="slides/slide5.xml"/><Relationship Id="rId45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8.xml"/><Relationship Id="rId48" Type="http://schemas.openxmlformats.org/officeDocument/2006/relationships/slide" Target="slides/slide13.xml"/><Relationship Id="rId8" Type="http://schemas.openxmlformats.org/officeDocument/2006/relationships/slideMaster" Target="slideMasters/slideMaster8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3.xml"/><Relationship Id="rId46" Type="http://schemas.openxmlformats.org/officeDocument/2006/relationships/slide" Target="slides/slide1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1.xml"/><Relationship Id="rId49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13" name="PlaceHolder 4"/>
          <p:cNvSpPr>
            <a:spLocks noGrp="1"/>
          </p:cNvSpPr>
          <p:nvPr>
            <p:ph type="dt" idx="1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14" name="PlaceHolder 5"/>
          <p:cNvSpPr>
            <a:spLocks noGrp="1"/>
          </p:cNvSpPr>
          <p:nvPr>
            <p:ph type="ftr" idx="1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5" name="PlaceHolder 6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243DB3-55BA-4D1C-9A4C-94F07751041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90534-6D26-46CA-9F40-DF4DB3D2C55E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5C9D-0A7E-C613-3B8D-B18DFFD3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5AFB20F0-611A-E96B-A268-F57501A6C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C2D2A4AE-44C1-E8ED-39EA-76CF2B0D17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>
            <a:extLst>
              <a:ext uri="{FF2B5EF4-FFF2-40B4-BE49-F238E27FC236}">
                <a16:creationId xmlns:a16="http://schemas.microsoft.com/office/drawing/2014/main" id="{D4131630-13F8-6374-E370-33AB7FDC037E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90534-6D26-46CA-9F40-DF4DB3D2C55E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075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C3FC-8DB9-1637-8417-AA7FCF1A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253DC478-228C-55C4-60CA-D21574771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140F9B6F-2818-B32C-0212-964B21C1FA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>
            <a:extLst>
              <a:ext uri="{FF2B5EF4-FFF2-40B4-BE49-F238E27FC236}">
                <a16:creationId xmlns:a16="http://schemas.microsoft.com/office/drawing/2014/main" id="{55B2DA9D-26FB-20D1-1EEB-843D808B0B21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90534-6D26-46CA-9F40-DF4DB3D2C55E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073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4670-CD54-C4B0-0D0A-A93DB906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598EE182-BA92-D260-875B-FDF160502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F49777C1-E858-48F4-8B56-39C83794250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>
            <a:extLst>
              <a:ext uri="{FF2B5EF4-FFF2-40B4-BE49-F238E27FC236}">
                <a16:creationId xmlns:a16="http://schemas.microsoft.com/office/drawing/2014/main" id="{99B096E0-6253-1308-458B-2798D1C2EE4A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90534-6D26-46CA-9F40-DF4DB3D2C55E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3648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142A-80A8-01C8-0CB0-CCAAB120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>
            <a:extLst>
              <a:ext uri="{FF2B5EF4-FFF2-40B4-BE49-F238E27FC236}">
                <a16:creationId xmlns:a16="http://schemas.microsoft.com/office/drawing/2014/main" id="{28CC4C67-0947-BF34-B399-C263036D6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>
            <a:extLst>
              <a:ext uri="{FF2B5EF4-FFF2-40B4-BE49-F238E27FC236}">
                <a16:creationId xmlns:a16="http://schemas.microsoft.com/office/drawing/2014/main" id="{11E46FEB-9D4F-D30F-F7F9-A7C0BB95DF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>
            <a:extLst>
              <a:ext uri="{FF2B5EF4-FFF2-40B4-BE49-F238E27FC236}">
                <a16:creationId xmlns:a16="http://schemas.microsoft.com/office/drawing/2014/main" id="{F5EDFF0C-43A9-CFC0-F80C-D5F5E0B80304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D90534-6D26-46CA-9F40-DF4DB3D2C55E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9949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D8F85-A22D-1678-CCCB-8D8DB2F0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>
            <a:extLst>
              <a:ext uri="{FF2B5EF4-FFF2-40B4-BE49-F238E27FC236}">
                <a16:creationId xmlns:a16="http://schemas.microsoft.com/office/drawing/2014/main" id="{8A6032BB-A8B3-8D5B-629D-1DF1F707C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>
            <a:extLst>
              <a:ext uri="{FF2B5EF4-FFF2-40B4-BE49-F238E27FC236}">
                <a16:creationId xmlns:a16="http://schemas.microsoft.com/office/drawing/2014/main" id="{6A7C6043-8911-1ADC-9274-AF447DEA63C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>
            <a:extLst>
              <a:ext uri="{FF2B5EF4-FFF2-40B4-BE49-F238E27FC236}">
                <a16:creationId xmlns:a16="http://schemas.microsoft.com/office/drawing/2014/main" id="{535A8892-3472-D2D0-7712-B679ACE8ECBE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127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828F-0664-4FB9-3E5E-037B585D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>
            <a:extLst>
              <a:ext uri="{FF2B5EF4-FFF2-40B4-BE49-F238E27FC236}">
                <a16:creationId xmlns:a16="http://schemas.microsoft.com/office/drawing/2014/main" id="{40F779F2-21A3-CC28-520B-F12EE38C2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>
            <a:extLst>
              <a:ext uri="{FF2B5EF4-FFF2-40B4-BE49-F238E27FC236}">
                <a16:creationId xmlns:a16="http://schemas.microsoft.com/office/drawing/2014/main" id="{B4B568CB-1E56-CA2E-1621-5A3AA96EE2F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>
            <a:extLst>
              <a:ext uri="{FF2B5EF4-FFF2-40B4-BE49-F238E27FC236}">
                <a16:creationId xmlns:a16="http://schemas.microsoft.com/office/drawing/2014/main" id="{0580ECF6-DC8F-D5A0-10A2-8376956D272D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8723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27F9-59AF-3C68-6A54-C23C335D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>
            <a:extLst>
              <a:ext uri="{FF2B5EF4-FFF2-40B4-BE49-F238E27FC236}">
                <a16:creationId xmlns:a16="http://schemas.microsoft.com/office/drawing/2014/main" id="{20DF689C-1C01-72AE-F60B-3C4E14BCF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>
            <a:extLst>
              <a:ext uri="{FF2B5EF4-FFF2-40B4-BE49-F238E27FC236}">
                <a16:creationId xmlns:a16="http://schemas.microsoft.com/office/drawing/2014/main" id="{7C49B6B6-3939-71DB-66D6-FE4A5BF80BD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>
            <a:extLst>
              <a:ext uri="{FF2B5EF4-FFF2-40B4-BE49-F238E27FC236}">
                <a16:creationId xmlns:a16="http://schemas.microsoft.com/office/drawing/2014/main" id="{01B4AA0D-DC20-411B-7DF3-72048B0992A7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876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4E12F-8E15-F6AE-1334-E6B93821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>
            <a:extLst>
              <a:ext uri="{FF2B5EF4-FFF2-40B4-BE49-F238E27FC236}">
                <a16:creationId xmlns:a16="http://schemas.microsoft.com/office/drawing/2014/main" id="{49F2A83F-1268-8D1D-0FB5-9F43B3641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>
            <a:extLst>
              <a:ext uri="{FF2B5EF4-FFF2-40B4-BE49-F238E27FC236}">
                <a16:creationId xmlns:a16="http://schemas.microsoft.com/office/drawing/2014/main" id="{9B918507-5F9B-9356-AEB4-E5CD1CD8D4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>
            <a:extLst>
              <a:ext uri="{FF2B5EF4-FFF2-40B4-BE49-F238E27FC236}">
                <a16:creationId xmlns:a16="http://schemas.microsoft.com/office/drawing/2014/main" id="{C021B19A-BAA0-F6AC-3153-7C81DBB57042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9585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A8E1-8162-8BB6-F084-3773A8DF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>
            <a:extLst>
              <a:ext uri="{FF2B5EF4-FFF2-40B4-BE49-F238E27FC236}">
                <a16:creationId xmlns:a16="http://schemas.microsoft.com/office/drawing/2014/main" id="{9A8A93D5-EEDF-D675-049D-BB072012F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>
            <a:extLst>
              <a:ext uri="{FF2B5EF4-FFF2-40B4-BE49-F238E27FC236}">
                <a16:creationId xmlns:a16="http://schemas.microsoft.com/office/drawing/2014/main" id="{D134E7BB-BE35-FA2F-0777-1315CD6EE6E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>
            <a:extLst>
              <a:ext uri="{FF2B5EF4-FFF2-40B4-BE49-F238E27FC236}">
                <a16:creationId xmlns:a16="http://schemas.microsoft.com/office/drawing/2014/main" id="{565FBD22-214A-19B3-4E8F-5824AF03E645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BD2C8B-5397-4C9C-AC0C-18ACACD92924}" type="slidenum">
              <a:rPr lang="de-DE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325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Varian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folie Variante 01 Strukt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folie Variante 01 S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folie Variante 01 BESS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elfolie Varian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folie Variante 02 Kommunik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folie Variante 01 Strukt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folie Variante 01 S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folie Variante 01 BESS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Var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stieg T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folie mit Bild und Herrvorhe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lie, Texte, Aufzählung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lie Text, Aufzählung,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lie Text 2 Spal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lie grosses Foto mit B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elfolie Variante 02 Kommunik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stieg Them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w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w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wmf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wmf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wmf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wmf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.wmf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.wmf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.wmf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wmf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wmf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wmf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wmf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.wmf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" name="Grafik 17"/>
          <p:cNvPicPr/>
          <p:nvPr/>
        </p:nvPicPr>
        <p:blipFill>
          <a:blip r:embed="rId3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  <p:pic>
        <p:nvPicPr>
          <p:cNvPr id="2" name="Grafik 50"/>
          <p:cNvPicPr/>
          <p:nvPr/>
        </p:nvPicPr>
        <p:blipFill>
          <a:blip r:embed="rId4"/>
          <a:stretch/>
        </p:blipFill>
        <p:spPr>
          <a:xfrm>
            <a:off x="0" y="1654560"/>
            <a:ext cx="12191760" cy="4114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5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8" name="Rechteck 3"/>
          <p:cNvSpPr/>
          <p:nvPr/>
        </p:nvSpPr>
        <p:spPr>
          <a:xfrm>
            <a:off x="57852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" name="Rechteck 13"/>
          <p:cNvSpPr/>
          <p:nvPr/>
        </p:nvSpPr>
        <p:spPr>
          <a:xfrm>
            <a:off x="101052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" name="Rechteck 14"/>
          <p:cNvSpPr/>
          <p:nvPr/>
        </p:nvSpPr>
        <p:spPr>
          <a:xfrm>
            <a:off x="144216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" name="Grafik 4"/>
          <p:cNvPicPr/>
          <p:nvPr/>
        </p:nvPicPr>
        <p:blipFill>
          <a:blip r:embed="rId3"/>
          <a:stretch/>
        </p:blipFill>
        <p:spPr>
          <a:xfrm>
            <a:off x="0" y="1653840"/>
            <a:ext cx="12191760" cy="41148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5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8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" name="Grafik 5" descr="Ein Bild, das Licht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6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9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2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4" name="Grafik 33"/>
          <p:cNvPicPr/>
          <p:nvPr/>
        </p:nvPicPr>
        <p:blipFill>
          <a:blip r:embed="rId3"/>
          <a:stretch/>
        </p:blipFill>
        <p:spPr>
          <a:xfrm>
            <a:off x="0" y="1672200"/>
            <a:ext cx="12191760" cy="409644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7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40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3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5" name="Grafik 50"/>
          <p:cNvPicPr/>
          <p:nvPr/>
        </p:nvPicPr>
        <p:blipFill>
          <a:blip r:embed="rId3"/>
          <a:stretch/>
        </p:blipFill>
        <p:spPr>
          <a:xfrm>
            <a:off x="0" y="1654560"/>
            <a:ext cx="12191760" cy="4114080"/>
          </a:xfrm>
          <a:prstGeom prst="rect">
            <a:avLst/>
          </a:prstGeom>
          <a:ln w="0">
            <a:noFill/>
          </a:ln>
        </p:spPr>
      </p:pic>
      <p:sp>
        <p:nvSpPr>
          <p:cNvPr id="46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52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7" name="Grafik 4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58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64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7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9" name="Grafik 4"/>
          <p:cNvPicPr/>
          <p:nvPr/>
        </p:nvPicPr>
        <p:blipFill>
          <a:blip r:embed="rId3"/>
          <a:stretch/>
        </p:blipFill>
        <p:spPr>
          <a:xfrm>
            <a:off x="0" y="1653840"/>
            <a:ext cx="12191760" cy="4114800"/>
          </a:xfrm>
          <a:prstGeom prst="rect">
            <a:avLst/>
          </a:prstGeom>
          <a:ln w="0">
            <a:noFill/>
          </a:ln>
        </p:spPr>
      </p:pic>
      <p:sp>
        <p:nvSpPr>
          <p:cNvPr id="70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76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9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1" name="Grafik 5" descr="Ein Bild, das Licht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82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88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1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3" name="Grafik 33"/>
          <p:cNvPicPr/>
          <p:nvPr/>
        </p:nvPicPr>
        <p:blipFill>
          <a:blip r:embed="rId3"/>
          <a:stretch/>
        </p:blipFill>
        <p:spPr>
          <a:xfrm>
            <a:off x="0" y="1672200"/>
            <a:ext cx="12191760" cy="4096440"/>
          </a:xfrm>
          <a:prstGeom prst="rect">
            <a:avLst/>
          </a:prstGeom>
          <a:ln w="0">
            <a:noFill/>
          </a:ln>
        </p:spPr>
      </p:pic>
      <p:sp>
        <p:nvSpPr>
          <p:cNvPr id="94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00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3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Rechteck 9"/>
          <p:cNvSpPr/>
          <p:nvPr/>
        </p:nvSpPr>
        <p:spPr>
          <a:xfrm>
            <a:off x="0" y="1616040"/>
            <a:ext cx="12191760" cy="415260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dk2"/>
              </a:solidFill>
              <a:latin typeface="Calibri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08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12" name="Rechteck 11"/>
          <p:cNvSpPr/>
          <p:nvPr/>
        </p:nvSpPr>
        <p:spPr>
          <a:xfrm>
            <a:off x="57852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hteck 13"/>
          <p:cNvSpPr/>
          <p:nvPr/>
        </p:nvSpPr>
        <p:spPr>
          <a:xfrm>
            <a:off x="101052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hteck 14"/>
          <p:cNvSpPr/>
          <p:nvPr/>
        </p:nvSpPr>
        <p:spPr>
          <a:xfrm>
            <a:off x="144216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5" name="Grafik 12"/>
          <p:cNvPicPr/>
          <p:nvPr/>
        </p:nvPicPr>
        <p:blipFill>
          <a:blip r:embed="rId3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11035800" cy="14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strike="noStrike" spc="-1">
                <a:solidFill>
                  <a:schemeClr val="accent2">
                    <a:alpha val="70000"/>
                  </a:schemeClr>
                </a:solidFill>
                <a:latin typeface="Source Sans Pro"/>
                <a:ea typeface="Roboto"/>
              </a:rPr>
              <a:t>Headline 02 Kapitelüberschrift</a:t>
            </a:r>
            <a:endParaRPr lang="de-DE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577800" y="2692440"/>
            <a:ext cx="11035800" cy="34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accent3"/>
                </a:solidFill>
                <a:latin typeface="Source Sans Pro"/>
                <a:ea typeface="Roboto"/>
              </a:rPr>
              <a:t>Zweite Ebene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20" name="Rechteck 8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hteck 9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hteck 10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1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8F07BB7A-6FE3-451F-9AFD-F32733E85BC8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Grafik 1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51772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2400" b="1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Headline 1.1. blau 24 PT</a:t>
            </a:r>
            <a:endParaRPr lang="de-DE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77800" y="1489320"/>
            <a:ext cx="5517720" cy="19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77800" y="4616280"/>
            <a:ext cx="5517720" cy="82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accent3"/>
                </a:solidFill>
                <a:latin typeface="Source Sans Pro"/>
                <a:ea typeface="Roboto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6095880" y="836640"/>
            <a:ext cx="5517720" cy="524628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32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Foliennummernplatzhalter 11"/>
          <p:cNvSpPr/>
          <p:nvPr/>
        </p:nvSpPr>
        <p:spPr>
          <a:xfrm>
            <a:off x="4732920" y="633312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200" b="0" strike="noStrike" spc="-1">
              <a:solidFill>
                <a:schemeClr val="dk2"/>
              </a:solidFill>
              <a:latin typeface="Source Sans Pro"/>
              <a:ea typeface="Roboto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ftr" idx="2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6CBA04ED-3F5A-485A-ABF1-29DDEDA507FE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rafik 2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2400" b="1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Headline 1.1. blau 24 PT</a:t>
            </a:r>
            <a:endParaRPr lang="de-DE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77800" y="1502280"/>
            <a:ext cx="5314680" cy="47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840" indent="-28584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285840" indent="-28584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L sdfasödlfasdf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5880" y="836640"/>
            <a:ext cx="5517720" cy="3779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5880" y="4737240"/>
            <a:ext cx="551772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Hier eine Bildunterschrift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45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200" b="0" strike="noStrike" spc="-1">
              <a:solidFill>
                <a:schemeClr val="dk2"/>
              </a:solidFill>
              <a:latin typeface="Source Sans Pro"/>
              <a:ea typeface="Roboto"/>
            </a:endParaRPr>
          </a:p>
        </p:txBody>
      </p:sp>
      <p:sp>
        <p:nvSpPr>
          <p:cNvPr id="149" name="PlaceHolder 6"/>
          <p:cNvSpPr>
            <a:spLocks noGrp="1"/>
          </p:cNvSpPr>
          <p:nvPr>
            <p:ph type="ftr" idx="3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9798E332-F199-408E-A4E7-D809F864E312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rafik 2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Rechteck 13"/>
          <p:cNvSpPr/>
          <p:nvPr/>
        </p:nvSpPr>
        <p:spPr>
          <a:xfrm>
            <a:off x="6095880" y="836640"/>
            <a:ext cx="5517720" cy="493200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1600" b="1" strike="noStrike" spc="-1">
                <a:solidFill>
                  <a:schemeClr val="dk2"/>
                </a:solidFill>
                <a:latin typeface="Source Sans Pro Semibold"/>
                <a:ea typeface="Roboto"/>
              </a:rPr>
              <a:t>Headline 2 mit Minuskeln blau 16 PT</a:t>
            </a:r>
            <a:endParaRPr lang="de-DE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470640" y="4616280"/>
            <a:ext cx="4743000" cy="92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lang="de-DE" sz="1200" b="0" i="1" strike="noStrike" spc="-1">
                <a:solidFill>
                  <a:schemeClr val="lt1"/>
                </a:solidFill>
                <a:latin typeface="Source Sans Pro"/>
                <a:ea typeface="Roboto"/>
              </a:rPr>
              <a:t>Hier eine Grafikunterschrift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577800" y="1752480"/>
            <a:ext cx="5327280" cy="401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343080" lvl="1" indent="-34308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Zweite Ebene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343080" lvl="1" indent="-34308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sldöfjasd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6438960" y="1663560"/>
            <a:ext cx="4774680" cy="27302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58" name="PlaceHolder 5"/>
          <p:cNvSpPr>
            <a:spLocks noGrp="1"/>
          </p:cNvSpPr>
          <p:nvPr>
            <p:ph type="body"/>
          </p:nvPr>
        </p:nvSpPr>
        <p:spPr>
          <a:xfrm>
            <a:off x="6458040" y="1136520"/>
            <a:ext cx="4743000" cy="33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DIAGRAMM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60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hteck 15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hteck 17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ftr" idx="4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E00A2CC3-57C9-4433-84F1-BF9D3080D1C0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Grafik 29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1600" b="1" strike="noStrike" spc="-1">
                <a:solidFill>
                  <a:schemeClr val="dk1"/>
                </a:solidFill>
                <a:latin typeface="Source Sans Pro"/>
                <a:ea typeface="Roboto"/>
              </a:rPr>
              <a:t>Headline 2 mit Minuskeln 16 PT</a:t>
            </a:r>
            <a:endParaRPr lang="de-DE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77800" y="1489320"/>
            <a:ext cx="5339880" cy="197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6095880" y="1489320"/>
            <a:ext cx="5517720" cy="197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77800" y="3787920"/>
            <a:ext cx="5358960" cy="19807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6095880" y="3787920"/>
            <a:ext cx="5517720" cy="19807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72" name="PlaceHolder 6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73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PlaceHolder 7"/>
          <p:cNvSpPr>
            <a:spLocks noGrp="1"/>
          </p:cNvSpPr>
          <p:nvPr>
            <p:ph type="ftr" idx="5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ABE637E-F290-4455-9457-1B91280DABA5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Grafik 25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577800" y="836640"/>
            <a:ext cx="11035800" cy="49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76360" y="5892840"/>
            <a:ext cx="11035800" cy="3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HL FOTO Hier eine Bildunterschrift 16 PT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83" name="Rechteck 7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hteck 8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hteck 10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ftr" idx="6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EDEDD951-2D39-4A88-B8BC-900524CE4E9D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rafik 18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0" name="Grafik 4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93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196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9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1" name="Grafik 17"/>
          <p:cNvPicPr/>
          <p:nvPr/>
        </p:nvPicPr>
        <p:blipFill>
          <a:blip r:embed="rId3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  <p:pic>
        <p:nvPicPr>
          <p:cNvPr id="202" name="Grafik 50"/>
          <p:cNvPicPr/>
          <p:nvPr/>
        </p:nvPicPr>
        <p:blipFill>
          <a:blip r:embed="rId4"/>
          <a:stretch/>
        </p:blipFill>
        <p:spPr>
          <a:xfrm>
            <a:off x="0" y="1654560"/>
            <a:ext cx="12191760" cy="4114080"/>
          </a:xfrm>
          <a:prstGeom prst="rect">
            <a:avLst/>
          </a:prstGeom>
          <a:ln w="0">
            <a:noFill/>
          </a:ln>
        </p:spPr>
      </p:pic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05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08" name="Rechteck 3"/>
          <p:cNvSpPr/>
          <p:nvPr/>
        </p:nvSpPr>
        <p:spPr>
          <a:xfrm>
            <a:off x="57852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Rechteck 13"/>
          <p:cNvSpPr/>
          <p:nvPr/>
        </p:nvSpPr>
        <p:spPr>
          <a:xfrm>
            <a:off x="101052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Rechteck 14"/>
          <p:cNvSpPr/>
          <p:nvPr/>
        </p:nvSpPr>
        <p:spPr>
          <a:xfrm>
            <a:off x="144216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2" name="Grafik 4"/>
          <p:cNvPicPr/>
          <p:nvPr/>
        </p:nvPicPr>
        <p:blipFill>
          <a:blip r:embed="rId3"/>
          <a:stretch/>
        </p:blipFill>
        <p:spPr>
          <a:xfrm>
            <a:off x="0" y="1653840"/>
            <a:ext cx="12191760" cy="4114800"/>
          </a:xfrm>
          <a:prstGeom prst="rect">
            <a:avLst/>
          </a:prstGeom>
          <a:ln w="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15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18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1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3" name="Grafik 5" descr="Ein Bild, das Licht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26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29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2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4" name="Grafik 33"/>
          <p:cNvPicPr/>
          <p:nvPr/>
        </p:nvPicPr>
        <p:blipFill>
          <a:blip r:embed="rId3"/>
          <a:stretch/>
        </p:blipFill>
        <p:spPr>
          <a:xfrm>
            <a:off x="0" y="1672200"/>
            <a:ext cx="12191760" cy="4096440"/>
          </a:xfrm>
          <a:prstGeom prst="rect">
            <a:avLst/>
          </a:prstGeom>
          <a:ln w="0">
            <a:noFill/>
          </a:ln>
        </p:spPr>
      </p:pic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37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40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3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45" name="Grafik 50"/>
          <p:cNvPicPr/>
          <p:nvPr/>
        </p:nvPicPr>
        <p:blipFill>
          <a:blip r:embed="rId3"/>
          <a:stretch/>
        </p:blipFill>
        <p:spPr>
          <a:xfrm>
            <a:off x="0" y="1654560"/>
            <a:ext cx="12191760" cy="4114080"/>
          </a:xfrm>
          <a:prstGeom prst="rect">
            <a:avLst/>
          </a:prstGeom>
          <a:ln w="0">
            <a:noFill/>
          </a:ln>
        </p:spPr>
      </p:pic>
      <p:sp>
        <p:nvSpPr>
          <p:cNvPr id="246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52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5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7" name="Grafik 4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258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64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7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9" name="Grafik 4"/>
          <p:cNvPicPr/>
          <p:nvPr/>
        </p:nvPicPr>
        <p:blipFill>
          <a:blip r:embed="rId3"/>
          <a:stretch/>
        </p:blipFill>
        <p:spPr>
          <a:xfrm>
            <a:off x="0" y="1653840"/>
            <a:ext cx="12191760" cy="4114800"/>
          </a:xfrm>
          <a:prstGeom prst="rect">
            <a:avLst/>
          </a:prstGeom>
          <a:ln w="0">
            <a:noFill/>
          </a:ln>
        </p:spPr>
      </p:pic>
      <p:sp>
        <p:nvSpPr>
          <p:cNvPr id="270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75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76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9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1" name="Grafik 5" descr="Ein Bild, das Licht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282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88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91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93" name="Grafik 33"/>
          <p:cNvPicPr/>
          <p:nvPr/>
        </p:nvPicPr>
        <p:blipFill>
          <a:blip r:embed="rId3"/>
          <a:stretch/>
        </p:blipFill>
        <p:spPr>
          <a:xfrm>
            <a:off x="0" y="1672200"/>
            <a:ext cx="12191760" cy="4096440"/>
          </a:xfrm>
          <a:prstGeom prst="rect">
            <a:avLst/>
          </a:prstGeom>
          <a:ln w="0">
            <a:noFill/>
          </a:ln>
        </p:spPr>
      </p:pic>
      <p:sp>
        <p:nvSpPr>
          <p:cNvPr id="294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00" name="Rechteck 15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hteck 17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echteck 20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3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5" name="Rechteck 9"/>
          <p:cNvSpPr/>
          <p:nvPr/>
        </p:nvSpPr>
        <p:spPr>
          <a:xfrm>
            <a:off x="0" y="1616040"/>
            <a:ext cx="12191760" cy="415260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dk2"/>
              </a:solidFill>
              <a:latin typeface="Calibri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77800" y="1623600"/>
            <a:ext cx="8870760" cy="23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Titel &lt;40 PT 2 bis 3-zeilig</a:t>
            </a:r>
            <a:br>
              <a:rPr sz="4000"/>
            </a:br>
            <a:r>
              <a:rPr lang="de-DE" sz="40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in Minuskeln, Größe kann varieren</a:t>
            </a:r>
            <a:endParaRPr lang="de-DE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590400" y="463968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08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body"/>
          </p:nvPr>
        </p:nvSpPr>
        <p:spPr>
          <a:xfrm>
            <a:off x="577800" y="3152880"/>
            <a:ext cx="7876800" cy="98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Subline 50% von Headline kann auch mehrzeiligsein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12" name="Rechteck 11"/>
          <p:cNvSpPr/>
          <p:nvPr/>
        </p:nvSpPr>
        <p:spPr>
          <a:xfrm>
            <a:off x="57852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hteck 13"/>
          <p:cNvSpPr/>
          <p:nvPr/>
        </p:nvSpPr>
        <p:spPr>
          <a:xfrm>
            <a:off x="101052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hteck 14"/>
          <p:cNvSpPr/>
          <p:nvPr/>
        </p:nvSpPr>
        <p:spPr>
          <a:xfrm>
            <a:off x="144216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5" name="Grafik 12"/>
          <p:cNvPicPr/>
          <p:nvPr/>
        </p:nvPicPr>
        <p:blipFill>
          <a:blip r:embed="rId3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11035800" cy="14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strike="noStrike" spc="-1">
                <a:solidFill>
                  <a:schemeClr val="accent2">
                    <a:alpha val="70000"/>
                  </a:schemeClr>
                </a:solidFill>
                <a:latin typeface="Source Sans Pro"/>
                <a:ea typeface="Roboto"/>
              </a:rPr>
              <a:t>Headline 02 Kapitelüberschrift</a:t>
            </a:r>
            <a:endParaRPr lang="de-DE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577800" y="2692440"/>
            <a:ext cx="11035800" cy="34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accent3"/>
                </a:solidFill>
                <a:latin typeface="Source Sans Pro"/>
                <a:ea typeface="Roboto"/>
              </a:rPr>
              <a:t>Zweite Ebene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20" name="Rechteck 8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hteck 9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echteck 10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ftr" idx="7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809ACAB0-CE7D-42EA-A8CB-EEFDA7C576D3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Grafik 1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51772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2400" b="1" strike="noStrike" spc="-1">
                <a:solidFill>
                  <a:schemeClr val="dk2"/>
                </a:solidFill>
                <a:latin typeface="Source Sans Pro"/>
                <a:ea typeface="Roboto"/>
              </a:rPr>
              <a:t>Headline 1.1. blau 24 PT</a:t>
            </a:r>
            <a:endParaRPr lang="de-DE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77800" y="1489320"/>
            <a:ext cx="5517720" cy="19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77800" y="4616280"/>
            <a:ext cx="5517720" cy="82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accent3"/>
                </a:solidFill>
                <a:latin typeface="Source Sans Pro"/>
                <a:ea typeface="Roboto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body"/>
          </p:nvPr>
        </p:nvSpPr>
        <p:spPr>
          <a:xfrm>
            <a:off x="6095880" y="836640"/>
            <a:ext cx="5517720" cy="524628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31" name="PlaceHolder 5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32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Foliennummernplatzhalter 11"/>
          <p:cNvSpPr/>
          <p:nvPr/>
        </p:nvSpPr>
        <p:spPr>
          <a:xfrm>
            <a:off x="4732920" y="633312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200" b="0" strike="noStrike" spc="-1">
              <a:solidFill>
                <a:schemeClr val="dk2"/>
              </a:solidFill>
              <a:latin typeface="Source Sans Pro"/>
              <a:ea typeface="Roboto"/>
            </a:endParaRPr>
          </a:p>
        </p:txBody>
      </p:sp>
      <p:sp>
        <p:nvSpPr>
          <p:cNvPr id="336" name="PlaceHolder 6"/>
          <p:cNvSpPr>
            <a:spLocks noGrp="1"/>
          </p:cNvSpPr>
          <p:nvPr>
            <p:ph type="ftr" idx="8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2A6FB83-90AA-4B25-87A7-5D20614BAB88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Grafik 2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2400" b="1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Headline 1.1. blau 24 PT</a:t>
            </a:r>
            <a:endParaRPr lang="de-DE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577800" y="1502280"/>
            <a:ext cx="5314680" cy="47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840" indent="-28584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285840" indent="-28584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L sdfasödlfasdf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6095880" y="836640"/>
            <a:ext cx="5517720" cy="3779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6095880" y="4737240"/>
            <a:ext cx="551772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buNone/>
              <a:tabLst>
                <a:tab pos="0" algn="l"/>
              </a:tabLst>
            </a:pPr>
            <a:r>
              <a:rPr lang="de-DE" sz="12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Hier eine Bildunterschrift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45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200" b="0" strike="noStrike" spc="-1">
              <a:solidFill>
                <a:schemeClr val="dk2"/>
              </a:solidFill>
              <a:latin typeface="Source Sans Pro"/>
              <a:ea typeface="Roboto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ftr" idx="9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A6ACA1D-6D07-4717-8121-B254C7865A66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Grafik 2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Rechteck 13"/>
          <p:cNvSpPr/>
          <p:nvPr/>
        </p:nvSpPr>
        <p:spPr>
          <a:xfrm>
            <a:off x="6095880" y="836640"/>
            <a:ext cx="5517720" cy="493200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1600" b="1" strike="noStrike" spc="-1">
                <a:solidFill>
                  <a:schemeClr val="dk2"/>
                </a:solidFill>
                <a:latin typeface="Source Sans Pro Semibold"/>
                <a:ea typeface="Roboto"/>
              </a:rPr>
              <a:t>Headline 2 mit Minuskeln blau 16 PT</a:t>
            </a:r>
            <a:endParaRPr lang="de-DE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470640" y="4616280"/>
            <a:ext cx="4743000" cy="920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lang="de-DE" sz="1200" b="0" i="1" strike="noStrike" spc="-1">
                <a:solidFill>
                  <a:schemeClr val="lt1"/>
                </a:solidFill>
                <a:latin typeface="Source Sans Pro"/>
                <a:ea typeface="Roboto"/>
              </a:rPr>
              <a:t>Hier eine Grafikunterschrift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577800" y="1752480"/>
            <a:ext cx="5327280" cy="401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343080" lvl="1" indent="-34308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Zweite Ebene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343080" lvl="1" indent="-343080" defTabSz="914400">
              <a:lnSpc>
                <a:spcPts val="25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de-DE" sz="1600" b="1" strike="noStrike" spc="-1">
                <a:solidFill>
                  <a:schemeClr val="dk1"/>
                </a:solidFill>
                <a:latin typeface="Source Sans Pro Semibold"/>
                <a:ea typeface="Roboto"/>
              </a:rPr>
              <a:t>sldöfjasd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body"/>
          </p:nvPr>
        </p:nvSpPr>
        <p:spPr>
          <a:xfrm>
            <a:off x="6438960" y="1663560"/>
            <a:ext cx="4774680" cy="27302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58" name="PlaceHolder 5"/>
          <p:cNvSpPr>
            <a:spLocks noGrp="1"/>
          </p:cNvSpPr>
          <p:nvPr>
            <p:ph type="body"/>
          </p:nvPr>
        </p:nvSpPr>
        <p:spPr>
          <a:xfrm>
            <a:off x="6458040" y="1136520"/>
            <a:ext cx="4743000" cy="336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HEADLINE DIAGRAMM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59" name="PlaceHolder 6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60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hteck 15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Rechteck 17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PlaceHolder 7"/>
          <p:cNvSpPr>
            <a:spLocks noGrp="1"/>
          </p:cNvSpPr>
          <p:nvPr>
            <p:ph type="ftr" idx="10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D645E120-EB79-4DB4-8256-5EA6700E29E7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Grafik 29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5339880" cy="44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1600" b="1" strike="noStrike" spc="-1">
                <a:solidFill>
                  <a:schemeClr val="dk1"/>
                </a:solidFill>
                <a:latin typeface="Source Sans Pro"/>
                <a:ea typeface="Roboto"/>
              </a:rPr>
              <a:t>Headline 2 mit Minuskeln 16 PT</a:t>
            </a:r>
            <a:endParaRPr lang="de-DE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577800" y="1489320"/>
            <a:ext cx="5339880" cy="197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6095880" y="1489320"/>
            <a:ext cx="5517720" cy="197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577800" y="3787920"/>
            <a:ext cx="5358960" cy="19807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71" name="PlaceHolder 5"/>
          <p:cNvSpPr>
            <a:spLocks noGrp="1"/>
          </p:cNvSpPr>
          <p:nvPr>
            <p:ph type="body"/>
          </p:nvPr>
        </p:nvSpPr>
        <p:spPr>
          <a:xfrm>
            <a:off x="6095880" y="3787920"/>
            <a:ext cx="5517720" cy="19807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72" name="PlaceHolder 6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73" name="Rechteck 10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Rechteck 12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echteck 13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PlaceHolder 7"/>
          <p:cNvSpPr>
            <a:spLocks noGrp="1"/>
          </p:cNvSpPr>
          <p:nvPr>
            <p:ph type="ftr" idx="11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C5073239-BAE3-4B4E-90A3-51738F207801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8" name="Grafik 25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body"/>
          </p:nvPr>
        </p:nvSpPr>
        <p:spPr>
          <a:xfrm>
            <a:off x="577800" y="836640"/>
            <a:ext cx="11035800" cy="4932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chemeClr val="dk1"/>
                </a:solidFill>
                <a:latin typeface="Source Sans Pro"/>
              </a:rPr>
              <a:t>Seventh Outline Level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576360" y="5892840"/>
            <a:ext cx="11035800" cy="3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ts val="2500"/>
              </a:lnSpc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HL FOTO Hier eine Bildunterschrift 16 PT</a:t>
            </a:r>
            <a:endParaRPr lang="de-DE" sz="16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83" name="Rechteck 7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Rechteck 8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Rechteck 10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ftr" idx="12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B4343F42-A0EB-495E-AB8B-90BC89E0E2EE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Grafik 18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90" name="Grafik 4"/>
          <p:cNvPicPr/>
          <p:nvPr/>
        </p:nvPicPr>
        <p:blipFill>
          <a:blip r:embed="rId3"/>
          <a:stretch/>
        </p:blipFill>
        <p:spPr>
          <a:xfrm>
            <a:off x="0" y="1653120"/>
            <a:ext cx="12191760" cy="4115520"/>
          </a:xfrm>
          <a:prstGeom prst="rect">
            <a:avLst/>
          </a:prstGeom>
          <a:ln w="0">
            <a:noFill/>
          </a:ln>
        </p:spPr>
      </p:pic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766656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cap="all" spc="-1">
                <a:solidFill>
                  <a:schemeClr val="lt1"/>
                </a:solidFill>
                <a:latin typeface="Source Sans Pro"/>
                <a:ea typeface="Roboto"/>
              </a:rPr>
              <a:t>Headline Titel &gt;48 PT 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577800" y="46015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accent4"/>
                </a:solidFill>
                <a:latin typeface="Source Sans Pro"/>
                <a:ea typeface="Roboto"/>
              </a:rPr>
              <a:t>Datum oder URL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93" name="Oval 16"/>
          <p:cNvSpPr/>
          <p:nvPr/>
        </p:nvSpPr>
        <p:spPr>
          <a:xfrm>
            <a:off x="8811360" y="4616280"/>
            <a:ext cx="1656000" cy="16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 rot="486000">
            <a:off x="8965800" y="51724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-1">
                <a:solidFill>
                  <a:schemeClr val="lt1"/>
                </a:solidFill>
                <a:latin typeface="Source Sans Pro"/>
                <a:ea typeface="Roboto"/>
              </a:rPr>
              <a:t>TEASER</a:t>
            </a:r>
            <a:endParaRPr lang="de-DE" sz="20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 rot="486000">
            <a:off x="8923320" y="5606280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>
                <a:solidFill>
                  <a:schemeClr val="lt1"/>
                </a:solidFill>
                <a:latin typeface="Source Sans Pro Light"/>
                <a:ea typeface="Roboto"/>
              </a:rPr>
              <a:t>Subline</a:t>
            </a:r>
            <a:endParaRPr lang="de-DE" sz="1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396" name="Rechteck 11"/>
          <p:cNvSpPr/>
          <p:nvPr/>
        </p:nvSpPr>
        <p:spPr>
          <a:xfrm>
            <a:off x="577800" y="576900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echteck 13"/>
          <p:cNvSpPr/>
          <p:nvPr/>
        </p:nvSpPr>
        <p:spPr>
          <a:xfrm>
            <a:off x="1009800" y="576900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Rechteck 14"/>
          <p:cNvSpPr/>
          <p:nvPr/>
        </p:nvSpPr>
        <p:spPr>
          <a:xfrm>
            <a:off x="1441440" y="576900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9" name="Grafik 12"/>
          <p:cNvPicPr/>
          <p:nvPr/>
        </p:nvPicPr>
        <p:blipFill>
          <a:blip r:embed="rId4"/>
          <a:stretch/>
        </p:blipFill>
        <p:spPr>
          <a:xfrm>
            <a:off x="9509040" y="770040"/>
            <a:ext cx="2387520" cy="8341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feld 6"/>
          <p:cNvSpPr/>
          <p:nvPr/>
        </p:nvSpPr>
        <p:spPr>
          <a:xfrm>
            <a:off x="509040" y="1880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de-DE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577800" y="836640"/>
            <a:ext cx="11035800" cy="147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strike="noStrike" spc="-1">
                <a:solidFill>
                  <a:schemeClr val="accent2">
                    <a:alpha val="70000"/>
                  </a:schemeClr>
                </a:solidFill>
                <a:latin typeface="Source Sans Pro"/>
                <a:ea typeface="Roboto"/>
              </a:rPr>
              <a:t>Headline 02 Kapitelüberschrift</a:t>
            </a:r>
            <a:endParaRPr lang="de-DE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77800" y="2692440"/>
            <a:ext cx="11035800" cy="34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strike="noStrike" spc="-1">
                <a:solidFill>
                  <a:schemeClr val="dk1"/>
                </a:solidFill>
                <a:latin typeface="Source Sans Pro"/>
                <a:ea typeface="Roboto"/>
              </a:rPr>
              <a:t>Mastertextformat bearbeiten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  <a:p>
            <a:pPr marL="457200" indent="0" algn="ctr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400" b="1" strike="noStrike" spc="-1">
                <a:solidFill>
                  <a:schemeClr val="accent3"/>
                </a:solidFill>
                <a:latin typeface="Source Sans Pro"/>
                <a:ea typeface="Roboto"/>
              </a:rPr>
              <a:t>Zweite Ebene</a:t>
            </a:r>
            <a:endParaRPr lang="de-DE" sz="24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body"/>
          </p:nvPr>
        </p:nvSpPr>
        <p:spPr>
          <a:xfrm>
            <a:off x="577800" y="289080"/>
            <a:ext cx="1398240" cy="22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200" b="0" strike="noStrike" cap="all" spc="-1">
                <a:solidFill>
                  <a:schemeClr val="dk2"/>
                </a:solidFill>
                <a:latin typeface="Source Sans Pro"/>
                <a:ea typeface="Roboto"/>
              </a:rPr>
              <a:t>THEMA HIER</a:t>
            </a:r>
            <a:endParaRPr lang="de-DE" sz="1200" b="0" strike="noStrike" spc="-1">
              <a:solidFill>
                <a:schemeClr val="dk1"/>
              </a:solidFill>
              <a:latin typeface="Source Sans Pro"/>
            </a:endParaRPr>
          </a:p>
        </p:txBody>
      </p:sp>
      <p:sp>
        <p:nvSpPr>
          <p:cNvPr id="404" name="Rechteck 8"/>
          <p:cNvSpPr/>
          <p:nvPr/>
        </p:nvSpPr>
        <p:spPr>
          <a:xfrm>
            <a:off x="577800" y="0"/>
            <a:ext cx="431640" cy="104040"/>
          </a:xfrm>
          <a:prstGeom prst="rect">
            <a:avLst/>
          </a:prstGeom>
          <a:solidFill>
            <a:srgbClr val="004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Rechteck 9"/>
          <p:cNvSpPr/>
          <p:nvPr/>
        </p:nvSpPr>
        <p:spPr>
          <a:xfrm>
            <a:off x="1009800" y="0"/>
            <a:ext cx="431640" cy="104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Rechteck 10"/>
          <p:cNvSpPr/>
          <p:nvPr/>
        </p:nvSpPr>
        <p:spPr>
          <a:xfrm>
            <a:off x="1441440" y="0"/>
            <a:ext cx="431640" cy="104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ftr" idx="13"/>
          </p:nvPr>
        </p:nvSpPr>
        <p:spPr>
          <a:xfrm>
            <a:off x="500760" y="63939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strike="noStrike" spc="-1">
                <a:solidFill>
                  <a:schemeClr val="dk2"/>
                </a:solidFill>
                <a:latin typeface="Source Sans Pro"/>
                <a:ea typeface="Roboto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Foliennummernplatzhalter 11"/>
          <p:cNvSpPr/>
          <p:nvPr/>
        </p:nvSpPr>
        <p:spPr>
          <a:xfrm>
            <a:off x="5682240" y="6356160"/>
            <a:ext cx="8424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3A2363E2-8F95-4D93-A061-0E5B1276945B}" type="slidenum">
              <a:rPr lang="de-DE" sz="1200" b="0" strike="noStrike" spc="-1">
                <a:solidFill>
                  <a:schemeClr val="dk2"/>
                </a:solidFill>
                <a:latin typeface="Source Sans Pro"/>
                <a:ea typeface="Roboto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9" name="Grafik 14"/>
          <p:cNvPicPr/>
          <p:nvPr/>
        </p:nvPicPr>
        <p:blipFill>
          <a:blip r:embed="rId3"/>
          <a:srcRect t="16099" b="9199"/>
          <a:stretch/>
        </p:blipFill>
        <p:spPr>
          <a:xfrm>
            <a:off x="10382400" y="6371280"/>
            <a:ext cx="1398240" cy="3646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972825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spc="-1" dirty="0">
                <a:solidFill>
                  <a:schemeClr val="lt1"/>
                </a:solidFill>
                <a:latin typeface="Source Sans Pro"/>
                <a:ea typeface="Roboto"/>
              </a:rPr>
              <a:t>HR-RIXS Designs </a:t>
            </a:r>
            <a:r>
              <a:rPr lang="de-DE" sz="4800" b="1" strike="noStrike" spc="-1" dirty="0" err="1">
                <a:solidFill>
                  <a:schemeClr val="lt1"/>
                </a:solidFill>
                <a:latin typeface="Source Sans Pro"/>
                <a:ea typeface="Roboto"/>
              </a:rPr>
              <a:t>for</a:t>
            </a:r>
            <a:r>
              <a:rPr lang="de-DE" sz="4800" b="1" strike="noStrike" spc="-1" dirty="0">
                <a:solidFill>
                  <a:schemeClr val="lt1"/>
                </a:solidFill>
                <a:latin typeface="Source Sans Pro"/>
                <a:ea typeface="Roboto"/>
              </a:rPr>
              <a:t> BESSY III</a:t>
            </a:r>
            <a:endParaRPr lang="de-DE" sz="4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161905" y="464404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de-DE" sz="2800" b="0" strike="noStrike" spc="-1" dirty="0">
                <a:solidFill>
                  <a:schemeClr val="bg1"/>
                </a:solidFill>
                <a:latin typeface="Source Sans Pro"/>
              </a:rPr>
              <a:t>Sebastian Malerz</a:t>
            </a: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 rot="486000">
            <a:off x="8848206" y="5343674"/>
            <a:ext cx="1386360" cy="32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400" b="0" strike="noStrike" spc="-1" dirty="0">
                <a:solidFill>
                  <a:schemeClr val="lt1"/>
                </a:solidFill>
                <a:latin typeface="Source Sans Pro Light"/>
              </a:rPr>
              <a:t>17.09.2025</a:t>
            </a:r>
            <a:endParaRPr lang="de-DE" sz="1400" b="0" strike="noStrike" spc="-1" dirty="0">
              <a:solidFill>
                <a:schemeClr val="lt1"/>
              </a:solidFill>
              <a:latin typeface="Source Sans Pro Light"/>
              <a:ea typeface="Roboto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3F24F347-BA83-E271-3C2F-AD6B4E537B14}"/>
              </a:ext>
            </a:extLst>
          </p:cNvPr>
          <p:cNvSpPr txBox="1">
            <a:spLocks/>
          </p:cNvSpPr>
          <p:nvPr/>
        </p:nvSpPr>
        <p:spPr>
          <a:xfrm>
            <a:off x="161905" y="3130220"/>
            <a:ext cx="5117760" cy="6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2000" indent="0">
              <a:spcBef>
                <a:spcPts val="1417"/>
              </a:spcBef>
              <a:buFont typeface="Arial" panose="020B0604020202020204" pitchFamily="34" charset="0"/>
              <a:buNone/>
            </a:pPr>
            <a:r>
              <a:rPr lang="de-DE" sz="2400" spc="-1" dirty="0">
                <a:solidFill>
                  <a:schemeClr val="bg1"/>
                </a:solidFill>
                <a:latin typeface="Source Sans Pro"/>
              </a:rPr>
              <a:t>Kick-Off Meeting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3D91BFF-D784-AA3A-A330-623740A81117}"/>
              </a:ext>
            </a:extLst>
          </p:cNvPr>
          <p:cNvSpPr txBox="1"/>
          <p:nvPr/>
        </p:nvSpPr>
        <p:spPr>
          <a:xfrm>
            <a:off x="581025" y="342900"/>
            <a:ext cx="83513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What we know:</a:t>
            </a:r>
          </a:p>
          <a:p>
            <a:r>
              <a:rPr lang="en-US" sz="2000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Polarization:</a:t>
            </a:r>
            <a:r>
              <a:rPr lang="en-US" dirty="0"/>
              <a:t> variable, incl. circular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Energy Range: </a:t>
            </a:r>
            <a:r>
              <a:rPr lang="en-US" dirty="0"/>
              <a:t>250 – 2000 eV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Resolving Power: </a:t>
            </a:r>
            <a:r>
              <a:rPr lang="en-US" dirty="0"/>
              <a:t>1 </a:t>
            </a:r>
            <a:r>
              <a:rPr lang="en-US" dirty="0" err="1"/>
              <a:t>meV</a:t>
            </a:r>
            <a:r>
              <a:rPr lang="en-US" dirty="0"/>
              <a:t> @ 1000 eV (E/</a:t>
            </a:r>
            <a:r>
              <a:rPr lang="en-US" dirty="0" err="1"/>
              <a:t>dE</a:t>
            </a:r>
            <a:r>
              <a:rPr lang="en-US" dirty="0"/>
              <a:t>=1,000,000);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what is the scientific reason?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Focus Size: </a:t>
            </a:r>
            <a:r>
              <a:rPr lang="en-US" dirty="0"/>
              <a:t>1 µm (unknown for hor., vert. or both?);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is a larger focus acceptable?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8029A3-6008-8870-BA4B-7E56322D605A}"/>
              </a:ext>
            </a:extLst>
          </p:cNvPr>
          <p:cNvSpPr txBox="1"/>
          <p:nvPr/>
        </p:nvSpPr>
        <p:spPr>
          <a:xfrm>
            <a:off x="581025" y="2521059"/>
            <a:ext cx="7246984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Current design and simulation parameter</a:t>
            </a:r>
          </a:p>
          <a:p>
            <a:r>
              <a:rPr lang="en-US" sz="2000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Undulator:</a:t>
            </a:r>
            <a:r>
              <a:rPr lang="en-US" dirty="0"/>
              <a:t> UE-42.5 (calculated by Malerz via SPECTRA)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Energy Range: </a:t>
            </a:r>
            <a:r>
              <a:rPr lang="en-US" dirty="0"/>
              <a:t>150 – 2100 eV, 5 eV steps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Grating: </a:t>
            </a:r>
            <a:r>
              <a:rPr lang="en-US" dirty="0"/>
              <a:t>plane grating with 3000 l/mm; efficiency: 1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Diffraction order:</a:t>
            </a:r>
            <a:r>
              <a:rPr lang="en-US" dirty="0"/>
              <a:t> 2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c-factor:</a:t>
            </a:r>
            <a:r>
              <a:rPr lang="en-US" dirty="0"/>
              <a:t> 25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Optimization energy: </a:t>
            </a:r>
            <a:r>
              <a:rPr lang="en-US" dirty="0"/>
              <a:t>1000 eV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Mirror coating: </a:t>
            </a:r>
            <a:r>
              <a:rPr lang="en-US" dirty="0"/>
              <a:t>Pt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Incident angle: </a:t>
            </a:r>
            <a:r>
              <a:rPr lang="en-US" dirty="0"/>
              <a:t>0.75° for all mirrors (except M2)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Errors mirrors: </a:t>
            </a:r>
            <a:r>
              <a:rPr lang="en-US" dirty="0"/>
              <a:t>sag=0.05 sec; </a:t>
            </a:r>
            <a:r>
              <a:rPr lang="en-US" dirty="0" err="1"/>
              <a:t>mer</a:t>
            </a:r>
            <a:r>
              <a:rPr lang="en-US" dirty="0"/>
              <a:t>= 0.1 sec (RMS), roughness= 0.1 nm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Errors grating: </a:t>
            </a:r>
            <a:r>
              <a:rPr lang="en-US" dirty="0"/>
              <a:t>sag=0.001 sec; </a:t>
            </a:r>
            <a:r>
              <a:rPr lang="en-US" dirty="0" err="1"/>
              <a:t>mer</a:t>
            </a:r>
            <a:r>
              <a:rPr lang="en-US" dirty="0"/>
              <a:t>= 0.002 sec (RMS), roughness= 0.1 nm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Length:</a:t>
            </a:r>
            <a:r>
              <a:rPr lang="en-US" dirty="0"/>
              <a:t> 91 m, 100 m, and 108 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188C04F-5D4C-35FB-02B1-D0E2CFD1B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35" y="2955708"/>
            <a:ext cx="3791279" cy="3162574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0C12348-1477-DF27-FB58-454A30EE6DCC}"/>
              </a:ext>
            </a:extLst>
          </p:cNvPr>
          <p:cNvSpPr txBox="1"/>
          <p:nvPr/>
        </p:nvSpPr>
        <p:spPr>
          <a:xfrm>
            <a:off x="8928824" y="2432488"/>
            <a:ext cx="2240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Current BESSY III parameter </a:t>
            </a:r>
            <a:br>
              <a:rPr lang="en-US" sz="1400" dirty="0"/>
            </a:br>
            <a:r>
              <a:rPr lang="en-US" sz="1400" dirty="0"/>
              <a:t>@ 2% coupling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23C9C-47F7-52B9-8E39-21A901B6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>
            <a:extLst>
              <a:ext uri="{FF2B5EF4-FFF2-40B4-BE49-F238E27FC236}">
                <a16:creationId xmlns:a16="http://schemas.microsoft.com/office/drawing/2014/main" id="{20AE5EED-47BE-1D23-4465-022422F00F8D}"/>
              </a:ext>
            </a:extLst>
          </p:cNvPr>
          <p:cNvSpPr txBox="1"/>
          <p:nvPr/>
        </p:nvSpPr>
        <p:spPr>
          <a:xfrm>
            <a:off x="1333501" y="3021331"/>
            <a:ext cx="733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good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EECCC2-F9BE-6826-A5FE-A20CF6677BD2}"/>
              </a:ext>
            </a:extLst>
          </p:cNvPr>
          <p:cNvSpPr txBox="1"/>
          <p:nvPr/>
        </p:nvSpPr>
        <p:spPr>
          <a:xfrm>
            <a:off x="581025" y="342900"/>
            <a:ext cx="2983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Layouts with 91 m length: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47D8C24-1901-EB37-BD35-3A45D12F9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87" y="957262"/>
            <a:ext cx="8886825" cy="519112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265A9AF-C4D2-557C-AA26-11D8335C2219}"/>
              </a:ext>
            </a:extLst>
          </p:cNvPr>
          <p:cNvSpPr txBox="1"/>
          <p:nvPr/>
        </p:nvSpPr>
        <p:spPr>
          <a:xfrm>
            <a:off x="9358312" y="957262"/>
            <a:ext cx="2280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1.6 x 17.5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1.4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2 µm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8B7BC5E-2DAB-DBEA-3AE8-E8750DA5B49C}"/>
              </a:ext>
            </a:extLst>
          </p:cNvPr>
          <p:cNvSpPr txBox="1"/>
          <p:nvPr/>
        </p:nvSpPr>
        <p:spPr>
          <a:xfrm>
            <a:off x="9358312" y="2109787"/>
            <a:ext cx="2280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1.7 x 15.7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1.7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4 µm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97BF700-BF5F-E067-700B-4D7708B4BA41}"/>
              </a:ext>
            </a:extLst>
          </p:cNvPr>
          <p:cNvSpPr txBox="1"/>
          <p:nvPr/>
        </p:nvSpPr>
        <p:spPr>
          <a:xfrm>
            <a:off x="9358312" y="3501718"/>
            <a:ext cx="2175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3.1 x 8.5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1.6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4 µm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C71C54-38A3-6A96-9FBE-E6E1A7595A6D}"/>
              </a:ext>
            </a:extLst>
          </p:cNvPr>
          <p:cNvSpPr txBox="1"/>
          <p:nvPr/>
        </p:nvSpPr>
        <p:spPr>
          <a:xfrm>
            <a:off x="9358312" y="4893649"/>
            <a:ext cx="2175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2.2 x 4.1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1.4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3 µm 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4D2D781-B4CA-381B-7553-5D9EE98CEF00}"/>
              </a:ext>
            </a:extLst>
          </p:cNvPr>
          <p:cNvSpPr/>
          <p:nvPr/>
        </p:nvSpPr>
        <p:spPr>
          <a:xfrm>
            <a:off x="10096500" y="838200"/>
            <a:ext cx="1541988" cy="710653"/>
          </a:xfrm>
          <a:custGeom>
            <a:avLst/>
            <a:gdLst>
              <a:gd name="connsiteX0" fmla="*/ 0 w 1541988"/>
              <a:gd name="connsiteY0" fmla="*/ 355327 h 710653"/>
              <a:gd name="connsiteX1" fmla="*/ 770994 w 1541988"/>
              <a:gd name="connsiteY1" fmla="*/ 0 h 710653"/>
              <a:gd name="connsiteX2" fmla="*/ 1541988 w 1541988"/>
              <a:gd name="connsiteY2" fmla="*/ 355327 h 710653"/>
              <a:gd name="connsiteX3" fmla="*/ 770994 w 1541988"/>
              <a:gd name="connsiteY3" fmla="*/ 710654 h 710653"/>
              <a:gd name="connsiteX4" fmla="*/ 0 w 1541988"/>
              <a:gd name="connsiteY4" fmla="*/ 355327 h 71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988" h="710653" extrusionOk="0">
                <a:moveTo>
                  <a:pt x="0" y="355327"/>
                </a:moveTo>
                <a:cubicBezTo>
                  <a:pt x="-1892" y="170536"/>
                  <a:pt x="346872" y="74662"/>
                  <a:pt x="770994" y="0"/>
                </a:cubicBezTo>
                <a:cubicBezTo>
                  <a:pt x="1221456" y="-13059"/>
                  <a:pt x="1575606" y="142652"/>
                  <a:pt x="1541988" y="355327"/>
                </a:cubicBezTo>
                <a:cubicBezTo>
                  <a:pt x="1557016" y="548186"/>
                  <a:pt x="1195039" y="750783"/>
                  <a:pt x="770994" y="710654"/>
                </a:cubicBezTo>
                <a:cubicBezTo>
                  <a:pt x="360710" y="735246"/>
                  <a:pt x="-7476" y="543849"/>
                  <a:pt x="0" y="355327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7809AF6-ABAF-4C5B-8644-950E7B4C7B21}"/>
              </a:ext>
            </a:extLst>
          </p:cNvPr>
          <p:cNvSpPr/>
          <p:nvPr/>
        </p:nvSpPr>
        <p:spPr>
          <a:xfrm>
            <a:off x="10096500" y="2022781"/>
            <a:ext cx="1541988" cy="710653"/>
          </a:xfrm>
          <a:custGeom>
            <a:avLst/>
            <a:gdLst>
              <a:gd name="connsiteX0" fmla="*/ 0 w 1541988"/>
              <a:gd name="connsiteY0" fmla="*/ 355327 h 710653"/>
              <a:gd name="connsiteX1" fmla="*/ 770994 w 1541988"/>
              <a:gd name="connsiteY1" fmla="*/ 0 h 710653"/>
              <a:gd name="connsiteX2" fmla="*/ 1541988 w 1541988"/>
              <a:gd name="connsiteY2" fmla="*/ 355327 h 710653"/>
              <a:gd name="connsiteX3" fmla="*/ 770994 w 1541988"/>
              <a:gd name="connsiteY3" fmla="*/ 710654 h 710653"/>
              <a:gd name="connsiteX4" fmla="*/ 0 w 1541988"/>
              <a:gd name="connsiteY4" fmla="*/ 355327 h 71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988" h="710653" extrusionOk="0">
                <a:moveTo>
                  <a:pt x="0" y="355327"/>
                </a:moveTo>
                <a:cubicBezTo>
                  <a:pt x="-1892" y="170536"/>
                  <a:pt x="346872" y="74662"/>
                  <a:pt x="770994" y="0"/>
                </a:cubicBezTo>
                <a:cubicBezTo>
                  <a:pt x="1221456" y="-13059"/>
                  <a:pt x="1575606" y="142652"/>
                  <a:pt x="1541988" y="355327"/>
                </a:cubicBezTo>
                <a:cubicBezTo>
                  <a:pt x="1557016" y="548186"/>
                  <a:pt x="1195039" y="750783"/>
                  <a:pt x="770994" y="710654"/>
                </a:cubicBezTo>
                <a:cubicBezTo>
                  <a:pt x="360710" y="735246"/>
                  <a:pt x="-7476" y="543849"/>
                  <a:pt x="0" y="355327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893F49F-D7E4-300E-341F-5D431333B10D}"/>
              </a:ext>
            </a:extLst>
          </p:cNvPr>
          <p:cNvSpPr/>
          <p:nvPr/>
        </p:nvSpPr>
        <p:spPr>
          <a:xfrm>
            <a:off x="10096500" y="3413914"/>
            <a:ext cx="1541988" cy="710653"/>
          </a:xfrm>
          <a:custGeom>
            <a:avLst/>
            <a:gdLst>
              <a:gd name="connsiteX0" fmla="*/ 0 w 1541988"/>
              <a:gd name="connsiteY0" fmla="*/ 355327 h 710653"/>
              <a:gd name="connsiteX1" fmla="*/ 770994 w 1541988"/>
              <a:gd name="connsiteY1" fmla="*/ 0 h 710653"/>
              <a:gd name="connsiteX2" fmla="*/ 1541988 w 1541988"/>
              <a:gd name="connsiteY2" fmla="*/ 355327 h 710653"/>
              <a:gd name="connsiteX3" fmla="*/ 770994 w 1541988"/>
              <a:gd name="connsiteY3" fmla="*/ 710654 h 710653"/>
              <a:gd name="connsiteX4" fmla="*/ 0 w 1541988"/>
              <a:gd name="connsiteY4" fmla="*/ 355327 h 71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988" h="710653" extrusionOk="0">
                <a:moveTo>
                  <a:pt x="0" y="355327"/>
                </a:moveTo>
                <a:cubicBezTo>
                  <a:pt x="-1892" y="170536"/>
                  <a:pt x="346872" y="74662"/>
                  <a:pt x="770994" y="0"/>
                </a:cubicBezTo>
                <a:cubicBezTo>
                  <a:pt x="1221456" y="-13059"/>
                  <a:pt x="1575606" y="142652"/>
                  <a:pt x="1541988" y="355327"/>
                </a:cubicBezTo>
                <a:cubicBezTo>
                  <a:pt x="1557016" y="548186"/>
                  <a:pt x="1195039" y="750783"/>
                  <a:pt x="770994" y="710654"/>
                </a:cubicBezTo>
                <a:cubicBezTo>
                  <a:pt x="360710" y="735246"/>
                  <a:pt x="-7476" y="543849"/>
                  <a:pt x="0" y="355327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7660CE0-C0AC-6BDE-EC72-A4299E5905C1}"/>
              </a:ext>
            </a:extLst>
          </p:cNvPr>
          <p:cNvSpPr/>
          <p:nvPr/>
        </p:nvSpPr>
        <p:spPr>
          <a:xfrm>
            <a:off x="10096500" y="4819650"/>
            <a:ext cx="1541988" cy="710653"/>
          </a:xfrm>
          <a:custGeom>
            <a:avLst/>
            <a:gdLst>
              <a:gd name="connsiteX0" fmla="*/ 0 w 1541988"/>
              <a:gd name="connsiteY0" fmla="*/ 355327 h 710653"/>
              <a:gd name="connsiteX1" fmla="*/ 770994 w 1541988"/>
              <a:gd name="connsiteY1" fmla="*/ 0 h 710653"/>
              <a:gd name="connsiteX2" fmla="*/ 1541988 w 1541988"/>
              <a:gd name="connsiteY2" fmla="*/ 355327 h 710653"/>
              <a:gd name="connsiteX3" fmla="*/ 770994 w 1541988"/>
              <a:gd name="connsiteY3" fmla="*/ 710654 h 710653"/>
              <a:gd name="connsiteX4" fmla="*/ 0 w 1541988"/>
              <a:gd name="connsiteY4" fmla="*/ 355327 h 71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988" h="710653" extrusionOk="0">
                <a:moveTo>
                  <a:pt x="0" y="355327"/>
                </a:moveTo>
                <a:cubicBezTo>
                  <a:pt x="-1892" y="170536"/>
                  <a:pt x="346872" y="74662"/>
                  <a:pt x="770994" y="0"/>
                </a:cubicBezTo>
                <a:cubicBezTo>
                  <a:pt x="1221456" y="-13059"/>
                  <a:pt x="1575606" y="142652"/>
                  <a:pt x="1541988" y="355327"/>
                </a:cubicBezTo>
                <a:cubicBezTo>
                  <a:pt x="1557016" y="548186"/>
                  <a:pt x="1195039" y="750783"/>
                  <a:pt x="770994" y="710654"/>
                </a:cubicBezTo>
                <a:cubicBezTo>
                  <a:pt x="360710" y="735246"/>
                  <a:pt x="-7476" y="543849"/>
                  <a:pt x="0" y="355327"/>
                </a:cubicBezTo>
                <a:close/>
              </a:path>
            </a:pathLst>
          </a:cu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34779923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6567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588A142-53D1-AA14-BACB-A41C28AC78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987" y="0"/>
            <a:ext cx="8582025" cy="6436519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6791346-B84D-3C20-88D7-BA2BD31A43EF}"/>
              </a:ext>
            </a:extLst>
          </p:cNvPr>
          <p:cNvCxnSpPr/>
          <p:nvPr/>
        </p:nvCxnSpPr>
        <p:spPr>
          <a:xfrm>
            <a:off x="2133600" y="3854450"/>
            <a:ext cx="1733550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58840AC-B970-219A-2600-42F081122615}"/>
              </a:ext>
            </a:extLst>
          </p:cNvPr>
          <p:cNvCxnSpPr>
            <a:cxnSpLocks/>
          </p:cNvCxnSpPr>
          <p:nvPr/>
        </p:nvCxnSpPr>
        <p:spPr>
          <a:xfrm>
            <a:off x="3867150" y="3854450"/>
            <a:ext cx="0" cy="78105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rn: 5 Zacken 10">
            <a:extLst>
              <a:ext uri="{FF2B5EF4-FFF2-40B4-BE49-F238E27FC236}">
                <a16:creationId xmlns:a16="http://schemas.microsoft.com/office/drawing/2014/main" id="{466623F9-B61C-5C76-8F9C-0F78E8F31D0B}"/>
              </a:ext>
            </a:extLst>
          </p:cNvPr>
          <p:cNvSpPr/>
          <p:nvPr/>
        </p:nvSpPr>
        <p:spPr>
          <a:xfrm>
            <a:off x="3762375" y="3749674"/>
            <a:ext cx="209550" cy="20955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8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0D9B-BFEF-5716-1BAB-1FC87C9C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123760A-1469-C149-50ED-6B73951B2739}"/>
              </a:ext>
            </a:extLst>
          </p:cNvPr>
          <p:cNvSpPr txBox="1"/>
          <p:nvPr/>
        </p:nvSpPr>
        <p:spPr>
          <a:xfrm>
            <a:off x="581025" y="342900"/>
            <a:ext cx="386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 with 100 m and 108 length: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62EC2AE-8B7F-E330-4F85-705B7F4C8B4B}"/>
              </a:ext>
            </a:extLst>
          </p:cNvPr>
          <p:cNvSpPr txBox="1"/>
          <p:nvPr/>
        </p:nvSpPr>
        <p:spPr>
          <a:xfrm>
            <a:off x="9358312" y="2307918"/>
            <a:ext cx="2280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1.1 x 12.7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1.1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1.8 µm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4EBD46A-3B58-34DD-CA4D-F6858B336F39}"/>
              </a:ext>
            </a:extLst>
          </p:cNvPr>
          <p:cNvSpPr txBox="1"/>
          <p:nvPr/>
        </p:nvSpPr>
        <p:spPr>
          <a:xfrm>
            <a:off x="9358312" y="4258649"/>
            <a:ext cx="2280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26.1 x 2.2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1.1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1.8 µm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427357-587D-FDFB-E599-8F1457E78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291" y="2165897"/>
            <a:ext cx="88868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E35F4AF-E486-4284-B958-C96EE32C34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4299"/>
            <a:ext cx="5041900" cy="630237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F661BFE-3DB5-25D3-8F07-0E663DF8C4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114299"/>
            <a:ext cx="5041900" cy="6302375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94BB5E7-F976-DB64-9C35-B5BF62F84117}"/>
              </a:ext>
            </a:extLst>
          </p:cNvPr>
          <p:cNvCxnSpPr>
            <a:cxnSpLocks/>
          </p:cNvCxnSpPr>
          <p:nvPr/>
        </p:nvCxnSpPr>
        <p:spPr>
          <a:xfrm>
            <a:off x="857250" y="4268153"/>
            <a:ext cx="982980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1097D5-8BC8-944C-AABB-C313F1733BE2}"/>
              </a:ext>
            </a:extLst>
          </p:cNvPr>
          <p:cNvCxnSpPr>
            <a:cxnSpLocks/>
          </p:cNvCxnSpPr>
          <p:nvPr/>
        </p:nvCxnSpPr>
        <p:spPr>
          <a:xfrm>
            <a:off x="1840230" y="4268153"/>
            <a:ext cx="0" cy="381317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tern: 5 Zacken 3">
            <a:extLst>
              <a:ext uri="{FF2B5EF4-FFF2-40B4-BE49-F238E27FC236}">
                <a16:creationId xmlns:a16="http://schemas.microsoft.com/office/drawing/2014/main" id="{A366C0A5-D170-F209-59C7-87822B7D50E7}"/>
              </a:ext>
            </a:extLst>
          </p:cNvPr>
          <p:cNvSpPr/>
          <p:nvPr/>
        </p:nvSpPr>
        <p:spPr>
          <a:xfrm>
            <a:off x="1760537" y="4166870"/>
            <a:ext cx="159385" cy="159385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FD09F77-AC7C-888E-6185-312DD4EDCC76}"/>
              </a:ext>
            </a:extLst>
          </p:cNvPr>
          <p:cNvCxnSpPr>
            <a:cxnSpLocks/>
          </p:cNvCxnSpPr>
          <p:nvPr/>
        </p:nvCxnSpPr>
        <p:spPr>
          <a:xfrm>
            <a:off x="6735128" y="4268153"/>
            <a:ext cx="971231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A902EE3-CA9A-5B71-AD0A-1430E76B8092}"/>
              </a:ext>
            </a:extLst>
          </p:cNvPr>
          <p:cNvCxnSpPr>
            <a:cxnSpLocks/>
          </p:cNvCxnSpPr>
          <p:nvPr/>
        </p:nvCxnSpPr>
        <p:spPr>
          <a:xfrm>
            <a:off x="7720647" y="4268153"/>
            <a:ext cx="0" cy="377189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rn: 5 Zacken 10">
            <a:extLst>
              <a:ext uri="{FF2B5EF4-FFF2-40B4-BE49-F238E27FC236}">
                <a16:creationId xmlns:a16="http://schemas.microsoft.com/office/drawing/2014/main" id="{C7067D2C-8D5F-C68D-9659-83B1BA38BE3B}"/>
              </a:ext>
            </a:extLst>
          </p:cNvPr>
          <p:cNvSpPr/>
          <p:nvPr/>
        </p:nvSpPr>
        <p:spPr>
          <a:xfrm>
            <a:off x="7636191" y="4166870"/>
            <a:ext cx="168911" cy="168911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0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CCC7-8904-B7DC-01BF-8851B1FE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FE28A26-B46F-3343-7842-99EB9211DCEF}"/>
              </a:ext>
            </a:extLst>
          </p:cNvPr>
          <p:cNvSpPr txBox="1"/>
          <p:nvPr/>
        </p:nvSpPr>
        <p:spPr>
          <a:xfrm>
            <a:off x="581025" y="342900"/>
            <a:ext cx="756277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Conclusion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To maintain </a:t>
            </a:r>
            <a:r>
              <a:rPr lang="en-US" b="1" dirty="0" err="1"/>
              <a:t>dE</a:t>
            </a:r>
            <a:r>
              <a:rPr lang="en-US" b="1" dirty="0"/>
              <a:t> of 1 meV@1keV</a:t>
            </a:r>
            <a:r>
              <a:rPr lang="en-US" dirty="0"/>
              <a:t>, longer beamlines up to </a:t>
            </a:r>
            <a:r>
              <a:rPr lang="en-US" b="1" dirty="0"/>
              <a:t>100-108 m</a:t>
            </a:r>
            <a:r>
              <a:rPr lang="en-US" dirty="0"/>
              <a:t> needed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Focus</a:t>
            </a:r>
            <a:r>
              <a:rPr lang="en-US" dirty="0"/>
              <a:t> size still to large (</a:t>
            </a:r>
            <a:r>
              <a:rPr lang="en-US" b="1" dirty="0"/>
              <a:t>&gt; 1 µm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b="1" dirty="0" err="1"/>
              <a:t>ExitSlit</a:t>
            </a:r>
            <a:r>
              <a:rPr lang="en-US" dirty="0"/>
              <a:t> opening with </a:t>
            </a:r>
            <a:r>
              <a:rPr lang="en-US" b="1" dirty="0"/>
              <a:t>~1 µm </a:t>
            </a:r>
            <a:r>
              <a:rPr lang="en-US" dirty="0"/>
              <a:t>maybe challenging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Flux @ high resolution very small (BESSY I </a:t>
            </a:r>
            <a:r>
              <a:rPr lang="en-US" dirty="0" err="1"/>
              <a:t>niveau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Long and high </a:t>
            </a:r>
            <a:r>
              <a:rPr lang="en-US" b="1" dirty="0"/>
              <a:t>precision optics </a:t>
            </a:r>
            <a:r>
              <a:rPr lang="en-US" dirty="0"/>
              <a:t>needed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</a:t>
            </a:r>
            <a:r>
              <a:rPr lang="en-US" dirty="0" err="1"/>
              <a:t>ExitSlit</a:t>
            </a:r>
            <a:r>
              <a:rPr lang="en-US" dirty="0"/>
              <a:t> below </a:t>
            </a:r>
            <a:r>
              <a:rPr lang="en-US" dirty="0" err="1"/>
              <a:t>ExitSlit</a:t>
            </a:r>
            <a:r>
              <a:rPr lang="en-US" dirty="0"/>
              <a:t>-limit, we can gain a bit more RP by loosing flux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4F87333-2DAC-1EFE-1AA8-2857C1CB7043}"/>
              </a:ext>
            </a:extLst>
          </p:cNvPr>
          <p:cNvSpPr txBox="1"/>
          <p:nvPr/>
        </p:nvSpPr>
        <p:spPr>
          <a:xfrm>
            <a:off x="1333501" y="3021331"/>
            <a:ext cx="733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good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F86FEBC-13E3-5959-ACEA-B767D1F3ED3B}"/>
              </a:ext>
            </a:extLst>
          </p:cNvPr>
          <p:cNvSpPr txBox="1"/>
          <p:nvPr/>
        </p:nvSpPr>
        <p:spPr>
          <a:xfrm>
            <a:off x="581025" y="2536448"/>
            <a:ext cx="876810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Ideas to consider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Advanced KB optics with a Wolter type 1 arrangement to maintain smaller focus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Remove optic elements (hor. or ver. focus) to maintain higher beamline flux</a:t>
            </a:r>
          </a:p>
          <a:p>
            <a:pPr marL="285750" indent="-285750">
              <a:buFontTx/>
              <a:buChar char="-"/>
            </a:pPr>
            <a:r>
              <a:rPr lang="en-US" dirty="0"/>
              <a:t>Using VLS-plane grating without </a:t>
            </a:r>
            <a:r>
              <a:rPr lang="en-US" dirty="0" err="1"/>
              <a:t>ExitSlit</a:t>
            </a:r>
            <a:r>
              <a:rPr lang="en-US" dirty="0"/>
              <a:t> (may in combination with a Wolter type1 mirror)</a:t>
            </a:r>
          </a:p>
          <a:p>
            <a:pPr marL="285750" indent="-285750">
              <a:buFontTx/>
              <a:buChar char="-"/>
            </a:pPr>
            <a:r>
              <a:rPr lang="en-US" dirty="0"/>
              <a:t>…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66BE2FC-1C1B-02D9-D602-7BC65E4FCA9C}"/>
              </a:ext>
            </a:extLst>
          </p:cNvPr>
          <p:cNvSpPr txBox="1"/>
          <p:nvPr/>
        </p:nvSpPr>
        <p:spPr>
          <a:xfrm>
            <a:off x="581025" y="4175998"/>
            <a:ext cx="1060174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Technical issues at the first glance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Very high demands on surface quality (</a:t>
            </a:r>
            <a:r>
              <a:rPr lang="en-US" dirty="0" err="1"/>
              <a:t>rougthness</a:t>
            </a:r>
            <a:r>
              <a:rPr lang="en-US" dirty="0"/>
              <a:t>, slope errors)</a:t>
            </a:r>
          </a:p>
          <a:p>
            <a:pPr marL="285750" indent="-285750">
              <a:buFontTx/>
              <a:buChar char="-"/>
            </a:pPr>
            <a:r>
              <a:rPr lang="en-US" dirty="0"/>
              <a:t>Delicate grating with high line density (~</a:t>
            </a:r>
            <a:r>
              <a:rPr lang="en-US" b="1" dirty="0"/>
              <a:t>3000 l/mm</a:t>
            </a:r>
            <a:r>
              <a:rPr lang="en-US" dirty="0"/>
              <a:t>, depending on the type) and large dimensions (</a:t>
            </a:r>
            <a:r>
              <a:rPr lang="en-US" b="1" dirty="0"/>
              <a:t>500 mm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2. order grating with a high </a:t>
            </a:r>
            <a:r>
              <a:rPr lang="en-US" b="1" dirty="0"/>
              <a:t>c-factor</a:t>
            </a:r>
            <a:r>
              <a:rPr lang="en-US" dirty="0"/>
              <a:t> (~</a:t>
            </a:r>
            <a:r>
              <a:rPr lang="en-US" b="1" dirty="0"/>
              <a:t>25</a:t>
            </a:r>
            <a:r>
              <a:rPr lang="en-US" dirty="0"/>
              <a:t>; leads to a </a:t>
            </a:r>
            <a:r>
              <a:rPr lang="en-US" b="1" dirty="0"/>
              <a:t>incident angle &lt; 0.4°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Vibrational stability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2038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6A2E4-8E37-1DDE-CBD0-280433FF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D85B823-17DC-E56E-1813-FC9D41388E9B}"/>
              </a:ext>
            </a:extLst>
          </p:cNvPr>
          <p:cNvSpPr txBox="1"/>
          <p:nvPr/>
        </p:nvSpPr>
        <p:spPr>
          <a:xfrm>
            <a:off x="581025" y="342900"/>
            <a:ext cx="59681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Results with more realistic parameter (state of the art)</a:t>
            </a:r>
          </a:p>
          <a:p>
            <a:pPr marL="285750" indent="-285750">
              <a:buFontTx/>
              <a:buChar char="-"/>
            </a:pPr>
            <a:r>
              <a:rPr lang="en-US" dirty="0"/>
              <a:t>c-factor = 10 (incident angle = 0.63°)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linedensity</a:t>
            </a:r>
            <a:r>
              <a:rPr lang="en-US" dirty="0"/>
              <a:t> = 2400 l/mm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7AFEAC1-E311-EB05-2DC5-EDE51B11A519}"/>
              </a:ext>
            </a:extLst>
          </p:cNvPr>
          <p:cNvSpPr txBox="1"/>
          <p:nvPr/>
        </p:nvSpPr>
        <p:spPr>
          <a:xfrm>
            <a:off x="1333501" y="3021331"/>
            <a:ext cx="733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good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4EFD7C4-23EC-8BAB-4C83-1C167CD3C2C7}"/>
              </a:ext>
            </a:extLst>
          </p:cNvPr>
          <p:cNvSpPr txBox="1"/>
          <p:nvPr/>
        </p:nvSpPr>
        <p:spPr>
          <a:xfrm>
            <a:off x="4872507" y="650676"/>
            <a:ext cx="442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Grating length = 250 mm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ExitSlit</a:t>
            </a:r>
            <a:r>
              <a:rPr lang="en-US" dirty="0"/>
              <a:t> = 4 µm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FCB3C20-6228-5D22-270B-2F40F3A57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295" y="1396442"/>
            <a:ext cx="4863361" cy="33354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6B5E0C3-DE1C-12BF-E598-56B0C078E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35" y="1396442"/>
            <a:ext cx="5025578" cy="255307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6D13689-422C-A2B0-0D57-EAFE96261A52}"/>
              </a:ext>
            </a:extLst>
          </p:cNvPr>
          <p:cNvSpPr txBox="1"/>
          <p:nvPr/>
        </p:nvSpPr>
        <p:spPr>
          <a:xfrm>
            <a:off x="581025" y="4398035"/>
            <a:ext cx="2280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1.2 x 18.6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2.3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4.0 µm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9B71BD8-F9BF-DA69-E13F-40250EE4D526}"/>
              </a:ext>
            </a:extLst>
          </p:cNvPr>
          <p:cNvSpPr txBox="1"/>
          <p:nvPr/>
        </p:nvSpPr>
        <p:spPr>
          <a:xfrm>
            <a:off x="581025" y="5398261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E/</a:t>
            </a:r>
            <a:r>
              <a:rPr lang="en-US" dirty="0" err="1">
                <a:solidFill>
                  <a:srgbClr val="C00000"/>
                </a:solidFill>
              </a:rPr>
              <a:t>dE</a:t>
            </a:r>
            <a:r>
              <a:rPr lang="en-US" dirty="0">
                <a:solidFill>
                  <a:srgbClr val="C00000"/>
                </a:solidFill>
              </a:rPr>
              <a:t> = ~439,000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04DC18A8-7E1D-5F58-2446-8F131F2BB6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0" t="569" r="24312" b="30172"/>
          <a:stretch>
            <a:fillRect/>
          </a:stretch>
        </p:blipFill>
        <p:spPr>
          <a:xfrm>
            <a:off x="3300232" y="4347425"/>
            <a:ext cx="3726287" cy="208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3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405F9E7-84C4-E661-99F4-FFCE48EB8B7F}"/>
              </a:ext>
            </a:extLst>
          </p:cNvPr>
          <p:cNvSpPr txBox="1"/>
          <p:nvPr/>
        </p:nvSpPr>
        <p:spPr>
          <a:xfrm>
            <a:off x="581025" y="342900"/>
            <a:ext cx="5063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Wolter type 1 mirror – </a:t>
            </a:r>
            <a:r>
              <a:rPr lang="en-US" sz="2000" b="1" dirty="0" err="1"/>
              <a:t>NanoTerasu</a:t>
            </a:r>
            <a:r>
              <a:rPr lang="en-US" sz="2000" b="1" dirty="0"/>
              <a:t> Beamline: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8BEDF1-2A96-2595-8F0A-29EC3FA3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960231"/>
            <a:ext cx="6905625" cy="313566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26F159E-CFEE-4177-79F6-EE58FC678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983" y="743010"/>
            <a:ext cx="4580017" cy="426757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876AF82-BF88-A695-BD0A-22B30A772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90" y="4587165"/>
            <a:ext cx="4724809" cy="1722269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BE9F93EC-FE22-83B0-DDA2-591FA4127D7C}"/>
              </a:ext>
            </a:extLst>
          </p:cNvPr>
          <p:cNvSpPr/>
          <p:nvPr/>
        </p:nvSpPr>
        <p:spPr>
          <a:xfrm>
            <a:off x="3026535" y="5774029"/>
            <a:ext cx="2094963" cy="47101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A254-317F-B8F6-A2D6-5A0794E5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DFB8372-0FEC-C51F-D0CE-D72E6BA1AACA}"/>
              </a:ext>
            </a:extLst>
          </p:cNvPr>
          <p:cNvSpPr txBox="1"/>
          <p:nvPr/>
        </p:nvSpPr>
        <p:spPr>
          <a:xfrm>
            <a:off x="581025" y="342900"/>
            <a:ext cx="4934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Wolter type 1 mirror – adaption to BESSY III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C28FBD-5F09-8FCE-A106-400379000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8" y="870013"/>
            <a:ext cx="11229043" cy="141744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808F360-69B1-3182-CA62-CAC310E80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198" y="2414459"/>
            <a:ext cx="5246323" cy="364541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95222BB-DCEA-40CB-A127-901D6E305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23" y="2414459"/>
            <a:ext cx="4280450" cy="264693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38537F3-B463-AA5C-F84F-27AD2B7853C7}"/>
              </a:ext>
            </a:extLst>
          </p:cNvPr>
          <p:cNvSpPr txBox="1"/>
          <p:nvPr/>
        </p:nvSpPr>
        <p:spPr>
          <a:xfrm>
            <a:off x="3233265" y="5437882"/>
            <a:ext cx="22801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AKB</a:t>
            </a:r>
          </a:p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1.0 x 20.2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1.1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1.8 µm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CE02487-839A-9ACF-21C9-A6B46552B552}"/>
              </a:ext>
            </a:extLst>
          </p:cNvPr>
          <p:cNvSpPr txBox="1"/>
          <p:nvPr/>
        </p:nvSpPr>
        <p:spPr>
          <a:xfrm>
            <a:off x="711152" y="5437882"/>
            <a:ext cx="22801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KB:</a:t>
            </a:r>
          </a:p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1.1 x 12.7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1.1 </a:t>
            </a:r>
            <a:r>
              <a:rPr lang="en-US" sz="1600" dirty="0" err="1"/>
              <a:t>meV</a:t>
            </a:r>
            <a:endParaRPr lang="en-US" sz="1600" dirty="0"/>
          </a:p>
          <a:p>
            <a:r>
              <a:rPr lang="en-US" sz="1600" dirty="0" err="1"/>
              <a:t>ExitSlit</a:t>
            </a:r>
            <a:r>
              <a:rPr lang="en-US" sz="1600" dirty="0"/>
              <a:t>     : 1.8 µm </a:t>
            </a:r>
          </a:p>
        </p:txBody>
      </p:sp>
    </p:spTree>
    <p:extLst>
      <p:ext uri="{BB962C8B-B14F-4D97-AF65-F5344CB8AC3E}">
        <p14:creationId xmlns:p14="http://schemas.microsoft.com/office/powerpoint/2010/main" val="129194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263F-4636-59CA-8289-3B38CABF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3F67704-5B71-2AAF-4D9D-746F1C1A13CD}"/>
              </a:ext>
            </a:extLst>
          </p:cNvPr>
          <p:cNvSpPr txBox="1"/>
          <p:nvPr/>
        </p:nvSpPr>
        <p:spPr>
          <a:xfrm>
            <a:off x="581025" y="342900"/>
            <a:ext cx="104987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Wolter type 1 mirror – adaption to BESSY III – without vertical refocusing (using VLS plane grating)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B61701B-B2EF-5B0F-C6A6-EE13F3BA88DE}"/>
              </a:ext>
            </a:extLst>
          </p:cNvPr>
          <p:cNvSpPr txBox="1"/>
          <p:nvPr/>
        </p:nvSpPr>
        <p:spPr>
          <a:xfrm>
            <a:off x="1863812" y="5309093"/>
            <a:ext cx="2280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Focus </a:t>
            </a:r>
            <a:r>
              <a:rPr lang="en-US" sz="1600" baseline="-25000" dirty="0"/>
              <a:t>(</a:t>
            </a:r>
            <a:r>
              <a:rPr lang="en-US" sz="1600" baseline="-25000" dirty="0" err="1"/>
              <a:t>vxh</a:t>
            </a:r>
            <a:r>
              <a:rPr lang="en-US" sz="1600" baseline="-25000" dirty="0"/>
              <a:t>)</a:t>
            </a:r>
            <a:r>
              <a:rPr lang="en-US" sz="1600" dirty="0"/>
              <a:t>: 12.4 x 6.8 µm²</a:t>
            </a:r>
          </a:p>
          <a:p>
            <a:r>
              <a:rPr lang="en-US" sz="1600" dirty="0" err="1"/>
              <a:t>dE</a:t>
            </a:r>
            <a:r>
              <a:rPr lang="en-US" sz="1600" baseline="-25000" dirty="0"/>
              <a:t>(@1 keV)   </a:t>
            </a:r>
            <a:r>
              <a:rPr lang="en-US" sz="1600" dirty="0"/>
              <a:t>: 1.7 </a:t>
            </a:r>
            <a:r>
              <a:rPr lang="en-US" sz="1600" dirty="0" err="1"/>
              <a:t>meV</a:t>
            </a:r>
            <a:r>
              <a:rPr lang="en-US" sz="1600" dirty="0"/>
              <a:t>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2F4148A-BEFC-2F72-DD71-D05D9AE7F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07" y="2414459"/>
            <a:ext cx="5456348" cy="381357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6C7C3A3-A7B0-D40D-B1C8-CDC878AB8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16" y="2414459"/>
            <a:ext cx="4338053" cy="258876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2CC9D41-46DB-B53B-7EBC-9F25DF8FB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71" y="889281"/>
            <a:ext cx="11354784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6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6D1D-9293-D894-09CC-000690F4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88A5730-BB42-A541-CBE3-BCEEDF21C645}"/>
              </a:ext>
            </a:extLst>
          </p:cNvPr>
          <p:cNvSpPr txBox="1"/>
          <p:nvPr/>
        </p:nvSpPr>
        <p:spPr>
          <a:xfrm>
            <a:off x="581025" y="342900"/>
            <a:ext cx="3197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Spectrometer specifications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3DD4E6E-0784-6ADD-633F-2B80EAE5C659}"/>
              </a:ext>
            </a:extLst>
          </p:cNvPr>
          <p:cNvSpPr txBox="1"/>
          <p:nvPr/>
        </p:nvSpPr>
        <p:spPr>
          <a:xfrm>
            <a:off x="581025" y="1038359"/>
            <a:ext cx="4033733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What we know:</a:t>
            </a:r>
          </a:p>
          <a:p>
            <a:r>
              <a:rPr lang="en-US" sz="2000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Energy Range: </a:t>
            </a:r>
            <a:r>
              <a:rPr lang="en-US" dirty="0"/>
              <a:t>250 – 2000 eV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Resolving Power: ? (</a:t>
            </a:r>
            <a:r>
              <a:rPr lang="en-US" b="1" dirty="0" err="1"/>
              <a:t>amap</a:t>
            </a:r>
            <a:r>
              <a:rPr lang="en-US" b="1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Resolving Power Combined: ? (</a:t>
            </a:r>
            <a:r>
              <a:rPr lang="en-US" b="1" dirty="0" err="1"/>
              <a:t>amap</a:t>
            </a:r>
            <a:r>
              <a:rPr lang="en-US" b="1" dirty="0"/>
              <a:t>)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/>
              <a:t>Acceptance angle: ?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Collecting mirrors needed?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…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???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438117-6933-A6AA-BD57-397D8D3619E4}"/>
              </a:ext>
            </a:extLst>
          </p:cNvPr>
          <p:cNvSpPr txBox="1"/>
          <p:nvPr/>
        </p:nvSpPr>
        <p:spPr>
          <a:xfrm>
            <a:off x="6007323" y="1038359"/>
            <a:ext cx="3255122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Types of RIXS-Spectrometer:</a:t>
            </a:r>
          </a:p>
          <a:p>
            <a:r>
              <a:rPr lang="en-US" sz="2000" b="1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Hettrick-Underwood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Rowland-circle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Von Hamos type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Hybride 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…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432694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4AA33-7D79-ED88-8282-8A1F8017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2A09FEE-032B-0B28-CE0D-EC005CE1B7D5}"/>
              </a:ext>
            </a:extLst>
          </p:cNvPr>
          <p:cNvSpPr txBox="1"/>
          <p:nvPr/>
        </p:nvSpPr>
        <p:spPr>
          <a:xfrm>
            <a:off x="581025" y="342900"/>
            <a:ext cx="5788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Potential concept from other facilities – competitors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B0D5CBB-8808-AF2B-F68B-CE6F00AFAAC5}"/>
              </a:ext>
            </a:extLst>
          </p:cNvPr>
          <p:cNvSpPr txBox="1"/>
          <p:nvPr/>
        </p:nvSpPr>
        <p:spPr>
          <a:xfrm>
            <a:off x="581025" y="1038359"/>
            <a:ext cx="44433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Centurion RIXS @ NSLS-II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RP @ 1000 eV = ~72,000 (combined)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Two parabolic collecting mirrors (hor.)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Length = 15 m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BD2090-7DF6-DAD1-0728-5028036D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630" y="875948"/>
            <a:ext cx="4930815" cy="204600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0597899-D844-72DA-373A-07E7005DAEE5}"/>
              </a:ext>
            </a:extLst>
          </p:cNvPr>
          <p:cNvSpPr txBox="1"/>
          <p:nvPr/>
        </p:nvSpPr>
        <p:spPr>
          <a:xfrm>
            <a:off x="579362" y="3521968"/>
            <a:ext cx="51827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High Efficiency 2D-RIXS @ Nano-</a:t>
            </a:r>
            <a:r>
              <a:rPr lang="en-US" b="1" dirty="0" err="1"/>
              <a:t>Teraso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dirty="0"/>
              <a:t>RP @ 1000 eV = up to 50,000 (combined)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Wolter type 1 mirrors in BL and spectrometer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Length = 12 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63D8D6F-84E5-6163-1E3A-5696AC148673}"/>
              </a:ext>
            </a:extLst>
          </p:cNvPr>
          <p:cNvSpPr txBox="1"/>
          <p:nvPr/>
        </p:nvSpPr>
        <p:spPr>
          <a:xfrm>
            <a:off x="579362" y="2257038"/>
            <a:ext cx="5622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Jarrige</a:t>
            </a:r>
            <a:r>
              <a:rPr lang="en-US" sz="1100" dirty="0"/>
              <a:t>, V. </a:t>
            </a:r>
            <a:r>
              <a:rPr lang="en-US" sz="1100" dirty="0" err="1"/>
              <a:t>Bisogni</a:t>
            </a:r>
            <a:r>
              <a:rPr lang="en-US" sz="1100" dirty="0"/>
              <a:t>, Y. Zhu, W. Leonhardt, J. Dvorak, </a:t>
            </a:r>
            <a:r>
              <a:rPr lang="en-US" sz="1100" i="1" dirty="0"/>
              <a:t>Synchrotron Radiation News </a:t>
            </a:r>
            <a:r>
              <a:rPr lang="en-US" sz="1100" b="1" i="1" dirty="0"/>
              <a:t>2018, </a:t>
            </a:r>
            <a:r>
              <a:rPr lang="en-US" sz="1100" i="1" dirty="0"/>
              <a:t>31, 7-13.</a:t>
            </a:r>
          </a:p>
          <a:p>
            <a:r>
              <a:rPr lang="en-US" sz="1100" dirty="0"/>
              <a:t>J. Dvorak, I. </a:t>
            </a:r>
            <a:r>
              <a:rPr lang="en-US" sz="1100" dirty="0" err="1"/>
              <a:t>Jarrige</a:t>
            </a:r>
            <a:r>
              <a:rPr lang="en-US" sz="1100" dirty="0"/>
              <a:t>, V. </a:t>
            </a:r>
            <a:r>
              <a:rPr lang="en-US" sz="1100" dirty="0" err="1"/>
              <a:t>Bisogni</a:t>
            </a:r>
            <a:r>
              <a:rPr lang="en-US" sz="1100" dirty="0"/>
              <a:t>, S. Coburn, W. Leonhardt, </a:t>
            </a:r>
            <a:r>
              <a:rPr lang="en-US" sz="1100" i="1" dirty="0"/>
              <a:t>Rev. Sci. </a:t>
            </a:r>
            <a:r>
              <a:rPr lang="en-US" sz="1100" i="1" dirty="0" err="1"/>
              <a:t>Instrum</a:t>
            </a:r>
            <a:r>
              <a:rPr lang="en-US" sz="1100" i="1" dirty="0"/>
              <a:t>. </a:t>
            </a:r>
            <a:r>
              <a:rPr lang="en-US" sz="1100" b="1" i="1" dirty="0"/>
              <a:t>2016, </a:t>
            </a:r>
            <a:r>
              <a:rPr lang="en-US" sz="1100" i="1" dirty="0"/>
              <a:t>87, 115109.</a:t>
            </a:r>
            <a:endParaRPr lang="en-US" sz="11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6A426FB-F885-C992-795E-32A6F75AC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630" y="3188594"/>
            <a:ext cx="4295102" cy="255305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4E76668-43F9-D567-DD20-F6C803E54CFB}"/>
              </a:ext>
            </a:extLst>
          </p:cNvPr>
          <p:cNvSpPr txBox="1"/>
          <p:nvPr/>
        </p:nvSpPr>
        <p:spPr>
          <a:xfrm>
            <a:off x="615033" y="4787737"/>
            <a:ext cx="54521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J. Miyawaki, K. Yamamoto, H. Kiuchi, Y. Harada, Synchrotron Radiation News </a:t>
            </a:r>
            <a:r>
              <a:rPr lang="en-US" sz="1100" b="1" dirty="0"/>
              <a:t>2025</a:t>
            </a:r>
            <a:r>
              <a:rPr lang="en-US" sz="1100" dirty="0"/>
              <a:t>, 38, 4-12.</a:t>
            </a:r>
          </a:p>
          <a:p>
            <a:r>
              <a:rPr lang="en-US" sz="1100" dirty="0"/>
              <a:t>J. Miyawaki, K. Fujii, T. </a:t>
            </a:r>
            <a:r>
              <a:rPr lang="en-US" sz="1100" dirty="0" err="1"/>
              <a:t>Imazono</a:t>
            </a:r>
            <a:r>
              <a:rPr lang="en-US" sz="1100" dirty="0"/>
              <a:t>, </a:t>
            </a:r>
            <a:r>
              <a:rPr lang="en-US" sz="1100" dirty="0" err="1"/>
              <a:t>NanoTerasu</a:t>
            </a:r>
            <a:r>
              <a:rPr lang="en-US" sz="1100" dirty="0"/>
              <a:t>, JASRI </a:t>
            </a:r>
            <a:r>
              <a:rPr lang="en-US" sz="1100" dirty="0" err="1"/>
              <a:t>NanoTerasu</a:t>
            </a:r>
            <a:r>
              <a:rPr lang="en-US" sz="1100" dirty="0"/>
              <a:t>, </a:t>
            </a:r>
            <a:r>
              <a:rPr lang="en-US" sz="1100" b="1" dirty="0"/>
              <a:t>2024</a:t>
            </a:r>
            <a:r>
              <a:rPr lang="en-US" sz="1100" dirty="0"/>
              <a:t>. (Poster)</a:t>
            </a:r>
          </a:p>
        </p:txBody>
      </p:sp>
    </p:spTree>
    <p:extLst>
      <p:ext uri="{BB962C8B-B14F-4D97-AF65-F5344CB8AC3E}">
        <p14:creationId xmlns:p14="http://schemas.microsoft.com/office/powerpoint/2010/main" val="221622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B266-26B0-42CA-BD45-9372FF0B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16CF62D-72A3-B5A7-D981-6628E1B51879}"/>
              </a:ext>
            </a:extLst>
          </p:cNvPr>
          <p:cNvSpPr txBox="1"/>
          <p:nvPr/>
        </p:nvSpPr>
        <p:spPr>
          <a:xfrm>
            <a:off x="581025" y="342900"/>
            <a:ext cx="5788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Potential concept from other facilities – competitors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239078A-77F5-B9FE-24D9-0CEEFD27257A}"/>
              </a:ext>
            </a:extLst>
          </p:cNvPr>
          <p:cNvSpPr txBox="1"/>
          <p:nvPr/>
        </p:nvSpPr>
        <p:spPr>
          <a:xfrm>
            <a:off x="581025" y="1038359"/>
            <a:ext cx="5653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Veritas RIXS @ MAX-IV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RP @ 1000 eV = up to 70,000 (combined, 2. order)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C00000"/>
                </a:solidFill>
              </a:rPr>
              <a:t>Measured RP only 17,000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No collector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Length = 10 m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85F53A-00A9-4F0A-3EB8-030C7B5321C7}"/>
              </a:ext>
            </a:extLst>
          </p:cNvPr>
          <p:cNvSpPr txBox="1"/>
          <p:nvPr/>
        </p:nvSpPr>
        <p:spPr>
          <a:xfrm>
            <a:off x="579362" y="3521968"/>
            <a:ext cx="4798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RIXS @ NSRL in Hefei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RP @ 1000 eV = up to 12,000 (combined)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Dif. Operation modes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Length = 5 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4AA213D-3818-680F-1124-A1183701A987}"/>
              </a:ext>
            </a:extLst>
          </p:cNvPr>
          <p:cNvSpPr txBox="1"/>
          <p:nvPr/>
        </p:nvSpPr>
        <p:spPr>
          <a:xfrm>
            <a:off x="579362" y="2580246"/>
            <a:ext cx="605486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M. </a:t>
            </a:r>
            <a:r>
              <a:rPr lang="en-US" sz="1100" dirty="0" err="1"/>
              <a:t>Agaker</a:t>
            </a:r>
            <a:r>
              <a:rPr lang="en-US" sz="1100" dirty="0"/>
              <a:t>, C. J. Englund, V. Ekholm, L. Kjellsson, P. Sjoblom, L. Pickworth, J. Soderstrom, N. Johansson, </a:t>
            </a:r>
            <a:br>
              <a:rPr lang="en-US" sz="1100" dirty="0"/>
            </a:br>
            <a:r>
              <a:rPr lang="en-US" sz="1100" dirty="0"/>
              <a:t>A. Ghosh, T. Tokushima, M. Caputo, J. Forsberg, G. </a:t>
            </a:r>
            <a:r>
              <a:rPr lang="en-US" sz="1100" dirty="0" err="1"/>
              <a:t>Felcsuti</a:t>
            </a:r>
            <a:r>
              <a:rPr lang="en-US" sz="1100" dirty="0"/>
              <a:t>, P. Fredriksson, S. Malki, N. Wassdahl,</a:t>
            </a:r>
            <a:br>
              <a:rPr lang="en-US" sz="1100" dirty="0"/>
            </a:br>
            <a:r>
              <a:rPr lang="en-US" sz="1100" dirty="0"/>
              <a:t>C. Sathe, J. E. Rubensson, J Synchrotron </a:t>
            </a:r>
            <a:r>
              <a:rPr lang="en-US" sz="1100" dirty="0" err="1"/>
              <a:t>Radiat</a:t>
            </a:r>
            <a:r>
              <a:rPr lang="en-US" sz="1100" dirty="0"/>
              <a:t> </a:t>
            </a:r>
            <a:r>
              <a:rPr lang="en-US" sz="1100" b="1" dirty="0"/>
              <a:t>2025</a:t>
            </a:r>
            <a:r>
              <a:rPr lang="en-US" sz="1100" dirty="0"/>
              <a:t>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A1EB42A-42E1-B824-1E2F-F94E6F2ED0D5}"/>
              </a:ext>
            </a:extLst>
          </p:cNvPr>
          <p:cNvSpPr txBox="1"/>
          <p:nvPr/>
        </p:nvSpPr>
        <p:spPr>
          <a:xfrm>
            <a:off x="615033" y="5045314"/>
            <a:ext cx="5317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R. Wang, P. Zhang, Q. Li, Y. Xia, L. Qian, X. Feng, S. Chen, X. Liu, </a:t>
            </a:r>
            <a:r>
              <a:rPr lang="en-US" sz="1100" i="1" dirty="0"/>
              <a:t>J Synchrotron </a:t>
            </a:r>
            <a:r>
              <a:rPr lang="en-US" sz="1100" i="1" dirty="0" err="1"/>
              <a:t>Radiat</a:t>
            </a:r>
            <a:r>
              <a:rPr lang="en-US" sz="1100" i="1" dirty="0"/>
              <a:t> </a:t>
            </a:r>
            <a:r>
              <a:rPr lang="en-US" sz="1100" b="1" i="1" dirty="0"/>
              <a:t>2025.</a:t>
            </a:r>
            <a:endParaRPr lang="en-US" sz="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D37BD6-DA58-0839-2EF2-1BD4660C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68" y="504577"/>
            <a:ext cx="2972058" cy="262912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495DE49-917E-B6EB-2790-D03F9987E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875" y="3639249"/>
            <a:ext cx="4991533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8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577800" y="2313000"/>
            <a:ext cx="8713800" cy="90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de-DE" sz="4800" b="1" strike="noStrike" spc="-1">
                <a:solidFill>
                  <a:schemeClr val="lt1"/>
                </a:solidFill>
                <a:latin typeface="Source Sans Pro"/>
                <a:ea typeface="Roboto"/>
              </a:rPr>
              <a:t>Thank you for your kind attention!</a:t>
            </a:r>
            <a:endParaRPr lang="de-DE" sz="4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1_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Office">
  <a:themeElements>
    <a:clrScheme name="HZB NEU 1">
      <a:dk1>
        <a:srgbClr val="000000"/>
      </a:dk1>
      <a:lt1>
        <a:srgbClr val="FFFFFF"/>
      </a:lt1>
      <a:dk2>
        <a:srgbClr val="004F84"/>
      </a:dk2>
      <a:lt2>
        <a:srgbClr val="E7E6E6"/>
      </a:lt2>
      <a:accent1>
        <a:srgbClr val="004F84"/>
      </a:accent1>
      <a:accent2>
        <a:srgbClr val="6CABE9"/>
      </a:accent2>
      <a:accent3>
        <a:srgbClr val="D15E57"/>
      </a:accent3>
      <a:accent4>
        <a:srgbClr val="9AC6F3"/>
      </a:accent4>
      <a:accent5>
        <a:srgbClr val="C6D970"/>
      </a:accent5>
      <a:accent6>
        <a:srgbClr val="BCD932"/>
      </a:accent6>
      <a:hlink>
        <a:srgbClr val="CB59C1"/>
      </a:hlink>
      <a:folHlink>
        <a:srgbClr val="676096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1084</Words>
  <Application>Microsoft Office PowerPoint</Application>
  <PresentationFormat>Breitbild</PresentationFormat>
  <Paragraphs>142</Paragraphs>
  <Slides>15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35</vt:i4>
      </vt:variant>
      <vt:variant>
        <vt:lpstr>Folientitel</vt:lpstr>
      </vt:variant>
      <vt:variant>
        <vt:i4>15</vt:i4>
      </vt:variant>
    </vt:vector>
  </HeadingPairs>
  <TitlesOfParts>
    <vt:vector size="59" baseType="lpstr">
      <vt:lpstr>Arial</vt:lpstr>
      <vt:lpstr>Calibri</vt:lpstr>
      <vt:lpstr>Calibri Light</vt:lpstr>
      <vt:lpstr>Source Sans Pro</vt:lpstr>
      <vt:lpstr>Source Sans Pro Light</vt:lpstr>
      <vt:lpstr>Source Sans Pro Semibold</vt:lpstr>
      <vt:lpstr>Symbol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1_Office</vt:lpstr>
      <vt:lpstr>Office</vt:lpstr>
      <vt:lpstr>HR-RIXS Designs for BESSY III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Thank you for your kind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Monica Mantel</dc:creator>
  <dc:description/>
  <cp:lastModifiedBy>Malerz, Sebastian</cp:lastModifiedBy>
  <cp:revision>494</cp:revision>
  <dcterms:created xsi:type="dcterms:W3CDTF">2021-07-30T13:31:34Z</dcterms:created>
  <dcterms:modified xsi:type="dcterms:W3CDTF">2025-09-16T22:39:10Z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41</vt:i4>
  </property>
  <property fmtid="{D5CDD505-2E9C-101B-9397-08002B2CF9AE}" pid="4" name="PresentationFormat">
    <vt:lpwstr>Breitbild</vt:lpwstr>
  </property>
  <property fmtid="{D5CDD505-2E9C-101B-9397-08002B2CF9AE}" pid="5" name="Slides">
    <vt:i4>45</vt:i4>
  </property>
</Properties>
</file>